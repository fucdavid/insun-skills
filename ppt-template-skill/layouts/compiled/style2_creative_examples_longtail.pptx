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rcRect l="4935" b="12619"/>
          <a:stretch>
            <a:fillRect/>
          </a:stretch>
        </p:blipFill>
        <p:spPr>
          <a:xfrm>
            <a:off x="5950585" y="2572385"/>
            <a:ext cx="1908175" cy="23393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t="11924" b="5673"/>
          <a:stretch>
            <a:fillRect/>
          </a:stretch>
        </p:blipFill>
        <p:spPr>
          <a:xfrm>
            <a:off x="4128135" y="2562225"/>
            <a:ext cx="1803400" cy="2352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155" y="2461260"/>
            <a:ext cx="3654425" cy="2265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75" y="2564130"/>
            <a:ext cx="3599815" cy="207708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0530" y="857885"/>
            <a:ext cx="11330305" cy="522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用真实用户和真实场景构建信任闭环，塑造典型车主画像，促使观望者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随大流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下单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305" y="138049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1200" i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部分创意示例</a:t>
            </a:r>
            <a:endParaRPr lang="zh-CN" altLang="en-US" sz="1200" i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0845" y="6031230"/>
            <a:ext cx="11180445" cy="275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铺设平台：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社媒平台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微博、抖音、小红书；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资讯平台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今日头条；</a:t>
            </a:r>
            <a:r>
              <a:rPr lang="zh-CN" altLang="en-US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垂媒平台</a:t>
            </a:r>
            <a:r>
              <a:rPr lang="en-US" altLang="zh-CN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1200" b="1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懂车帝、汽车之家</a:t>
            </a:r>
            <a:endParaRPr lang="zh-CN" alt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8005445" y="5069840"/>
            <a:ext cx="3592195" cy="76263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【真实体验强口碑】</a:t>
            </a:r>
            <a:endParaRPr lang="zh-CN" altLang="en-US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“实测秦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市区通勤百公里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2.8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个油，以前每周跑加油站，现在一个月去一次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！”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7980045" y="4187190"/>
            <a:ext cx="3630930" cy="789940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zh-CN" altLang="en-US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秦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深度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体验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报告：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工业奇迹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是否名副其实？</a:t>
            </a:r>
            <a:r>
              <a:rPr lang="zh-CN" altLang="en-US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zh-CN" altLang="en-US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0866655" y="5916813"/>
            <a:ext cx="36322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椭圆 35"/>
          <p:cNvSpPr/>
          <p:nvPr/>
        </p:nvSpPr>
        <p:spPr>
          <a:xfrm>
            <a:off x="10506610" y="5936615"/>
            <a:ext cx="333375" cy="343535"/>
          </a:xfrm>
          <a:prstGeom prst="ellipse">
            <a:avLst/>
          </a:prstGeom>
          <a:blipFill rotWithShape="1">
            <a:blip r:embed="rId11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Picture 10" descr="https://5b0988e595225.cdn.sohucs.com/images/20190801/a65f1ec44e0a4237ac2dce504559e795.jpe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2" r="15628"/>
          <a:stretch>
            <a:fillRect/>
          </a:stretch>
        </p:blipFill>
        <p:spPr bwMode="auto">
          <a:xfrm>
            <a:off x="10116680" y="5917942"/>
            <a:ext cx="363260" cy="3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组合 37"/>
          <p:cNvGrpSpPr/>
          <p:nvPr/>
        </p:nvGrpSpPr>
        <p:spPr>
          <a:xfrm>
            <a:off x="9357995" y="5924550"/>
            <a:ext cx="719455" cy="382905"/>
          </a:xfrm>
        </p:spPr>
        <p:grpSpPr>
          <a:xfrm>
            <a:off x="9357995" y="5924550"/>
            <a:ext cx="719455" cy="382905"/>
            <a:chOff x="17629" y="10318"/>
            <a:chExt cx="1105" cy="589"/>
          </a:xfrm>
        </p:grpSpPr>
        <p:pic>
          <p:nvPicPr>
            <p:cNvPr id="40" name="图片 3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8158" y="10318"/>
              <a:ext cx="576" cy="576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图片 46"/>
            <p:cNvPicPr/>
            <p:nvPr/>
          </p:nvPicPr>
          <p:blipFill>
            <a:blip r:embed="rId8"/>
            <a:srcRect l="13711" r="13711"/>
            <a:stretch>
              <a:fillRect/>
            </a:stretch>
          </p:blipFill>
          <p:spPr>
            <a:xfrm>
              <a:off x="17629" y="10335"/>
              <a:ext cx="572" cy="572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57" name="图片 5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7"/>
          <a:srcRect l="6975" t="12077" r="7914" b="7017"/>
          <a:stretch>
            <a:fillRect/>
          </a:stretch>
        </p:blipFill>
        <p:spPr>
          <a:xfrm>
            <a:off x="11256545" y="5935345"/>
            <a:ext cx="354330" cy="33909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4128135" y="5074920"/>
            <a:ext cx="3731260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车主心路证信任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“从日系换到秦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，现在开了一个月彻底服了！智能系统越用越顺手，这份信任是用实力换来的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9"/>
            </p:custDataLst>
          </p:nvPr>
        </p:nvSpPr>
        <p:spPr>
          <a:xfrm>
            <a:off x="4128135" y="4187825"/>
            <a:ext cx="3731260" cy="78930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都市通勤最优解：秦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的高颜值与自动泊车如何征服我？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 </a:t>
            </a:r>
            <a:endParaRPr lang="en-US" altLang="zh-CN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410845" y="5074920"/>
            <a:ext cx="3613150" cy="757555"/>
          </a:xfrm>
          <a:prstGeom prst="rect">
            <a:avLst/>
          </a:prstGeom>
          <a:noFill/>
          <a:ln w="9525">
            <a:solidFill>
              <a:srgbClr val="CA2C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</a:rPr>
              <a:t>评论铺设：</a:t>
            </a:r>
            <a:r>
              <a:rPr lang="zh-CN" altLang="en-US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【用户视角证火爆</a:t>
            </a:r>
            <a:r>
              <a:rPr lang="en-US" altLang="zh-CN" sz="1400" b="1" dirty="0">
                <a:solidFill>
                  <a:srgbClr val="CA2C2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endParaRPr lang="en-US" altLang="zh-CN" sz="1400" b="1" dirty="0">
              <a:solidFill>
                <a:srgbClr val="CA2C2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“昨天去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秦</a:t>
            </a:r>
            <a:r>
              <a:rPr lang="en-US" altLang="zh-CN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店门口试驾，排长队，这人气堪比明星演唱会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！</a:t>
            </a:r>
            <a:r>
              <a:rPr lang="zh-CN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12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>
            <p:custDataLst>
              <p:tags r:id="rId21"/>
            </p:custDataLst>
          </p:nvPr>
        </p:nvSpPr>
        <p:spPr>
          <a:xfrm>
            <a:off x="415925" y="4192905"/>
            <a:ext cx="3627755" cy="779145"/>
          </a:xfrm>
          <a:prstGeom prst="rect">
            <a:avLst/>
          </a:prstGeom>
          <a:solidFill>
            <a:schemeClr val="tx1">
              <a:alpha val="70000"/>
            </a:schemeClr>
          </a:solidFill>
          <a:ln w="9525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  <a:defRPr/>
            </a:pP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秦L到店实拍，现场人气火爆，咨询下单不断</a:t>
            </a:r>
            <a:r>
              <a:rPr lang="en-US" altLang="zh-CN" sz="1000" i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en-US" altLang="zh-CN" sz="1000" i="1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21640" y="2477136"/>
            <a:ext cx="1635125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图文报道</a:t>
            </a:r>
            <a:r>
              <a:rPr lang="en-US" altLang="zh-CN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短视频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5450" y="1671955"/>
            <a:ext cx="360807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到店盛况实录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10990" y="1671955"/>
            <a:ext cx="374777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典型车主故事</a:t>
            </a:r>
            <a:endParaRPr 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83220" y="1664970"/>
            <a:ext cx="3634740" cy="4381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提车用车矩阵</a:t>
            </a:r>
            <a:endParaRPr 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9895" y="2142490"/>
            <a:ext cx="36036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线下火爆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场景促传播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28135" y="2476818"/>
            <a:ext cx="1219200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algn="dist"/>
            <a:r>
              <a:rPr lang="zh-CN" alt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图文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Vlog</a:t>
            </a:r>
            <a:endParaRPr lang="en-US" sz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86860" y="2142490"/>
            <a:ext cx="3772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用车故事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建立情感连接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05445" y="2461261"/>
            <a:ext cx="1117600" cy="275589"/>
          </a:xfrm>
          <a:prstGeom prst="homePlate">
            <a:avLst/>
          </a:prstGeom>
          <a:solidFill>
            <a:srgbClr val="FFD5D5"/>
          </a:solidFill>
        </p:spPr>
        <p:txBody>
          <a:bodyPr wrap="square" rtlCol="0" anchor="ctr" anchorCtr="0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口碑帖</a:t>
            </a:r>
            <a:endParaRPr lang="zh-CN" altLang="en-US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6395" y="2144395"/>
            <a:ext cx="3631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从车主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观望、下定到提车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过程打造深度口碑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图片 33" descr="播放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060" y="3206750"/>
            <a:ext cx="997585" cy="997585"/>
          </a:xfrm>
          <a:prstGeom prst="rect">
            <a:avLst/>
          </a:prstGeom>
        </p:spPr>
      </p:pic>
      <p:pic>
        <p:nvPicPr>
          <p:cNvPr id="16" name="图片 15" descr="播放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095" y="3206750"/>
            <a:ext cx="997585" cy="997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