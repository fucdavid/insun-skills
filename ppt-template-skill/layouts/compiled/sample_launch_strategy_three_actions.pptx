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6"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 Yi" initials="" lastIdx="0" clrIdx="0"/>
  <p:cmAuthor id="2" name="MI" initials="M" lastIdx="0" clrIdx="1"/>
  <p:cmAuthor id="3" name="作者" initials="A" lastIdx="0" clrIdx="2"/>
  <p:cmAuthor id="4" name="Administrator" initials="A" lastIdx="0" clrIdx="3"/>
  <p:cmAuthor id="5" name="57466" initials="5" lastIdx="0" clrIdx="4"/>
  <p:cmAuthor id="6" name="李 密" initials="李" lastIdx="0" clrIdx="5"/>
  <p:cmAuthor id="7" name="吴恩泽" initials="吴恩泽" lastIdx="0" clrIdx="6"/>
  <p:cmAuthor id="8" name="陈 鸿" initials="陈" lastIdx="0" clrIdx="7"/>
  <p:cmAuthor id="9" name="梁文丽" initials="梁文丽" lastIdx="0" clrIdx="8"/>
  <p:cmAuthor id="10" name="574660601@qq.com" initials="5" lastIdx="0" clrIdx="9"/>
  <p:cmAuthor id="11" name="delph" initials="d" lastIdx="0" clrIdx="10"/>
  <p:cmAuthor id="12" name="1452310136@qq.com" initials="1" lastIdx="0" clrIdx="11"/>
  <p:cmAuthor id="13" name="ZOUZHIPENG" initials="Z" lastIdx="0" clrIdx="12"/>
  <p:cmAuthor id="14" name="管丽丹" initials="管丽丹" lastIdx="0" clrIdx="13"/>
  <p:cmAuthor id="15" name="HUAWEI" initials="H" lastIdx="0" clrIdx="14"/>
  <p:cmAuthor id="16" name="Admin" initials="A" lastIdx="0" clrIdx="15"/>
  <p:cmAuthor id="17" name="范雨晴 范" initials="范范" lastIdx="0" clrIdx="16"/>
  <p:cmAuthor id="18" name="chenxueyi" initials="c" lastIdx="0" clrIdx="17"/>
  <p:cmAuthor id="19" name="cqca63748" initials="c" lastIdx="0" clrIdx="18"/>
  <p:cmAuthor id="20" name="yangyanxia" initials="y" lastIdx="0" clrIdx="19"/>
  <p:cmAuthor id="21" name="61846" initials="6" lastIdx="0" clrIdx="20"/>
  <p:cmAuthor id="22" name="邓 盘柱" initials="邓" lastIdx="0" clrIdx="21"/>
  <p:cmAuthor id="23" name="Zuo,Ye" initials="Z" lastIdx="0" clrIdx="22"/>
  <p:cmAuthor id="24" name="刘春辉" initials="刘" lastIdx="0" clrIdx="23"/>
  <p:cmAuthor id="25" name="123" initials="1" lastIdx="0" clrIdx="24"/>
  <p:cmAuthor id="26" name="亮亮 王" initials="亮" lastIdx="0" clrIdx="25"/>
  <p:cmAuthor id="27" name="44641" initials="4" lastIdx="0" clrIdx="26"/>
  <p:cmAuthor id="28" name="赵兰玉" initials="赵" lastIdx="0" clrIdx="27"/>
  <p:cmAuthor id="29" name="夏敏" initials="夏" lastIdx="0" clrIdx="28"/>
  <p:cmAuthor id="30" name="陈威(东风汽车集团股份有限公司办公室总务分部)" initials="陈" lastIdx="0" clrIdx="29"/>
  <p:cmAuthor id="31" name="李宏益" initials="李" lastIdx="0" clrIdx="30"/>
  <p:cmAuthor id="32" name="杜娇龙" initials="杜" lastIdx="0" clrIdx="31"/>
  <p:cmAuthor id="33" name="李 刚" initials="" lastIdx="0" clrIdx="32"/>
  <p:cmAuthor id="34" name="洪鸣" initials="洪" lastIdx="0" clrIdx="33"/>
  <p:cmAuthor id="35" name="李 彤彤" initials="" lastIdx="0" clrIdx="34"/>
  <p:cmAuthor id="36" name="Qingyunli" initials="Q" lastIdx="0" clrIdx="35"/>
  <p:cmAuthor id="37" name="Microsoft" initials="" lastIdx="0" clrIdx="36"/>
  <p:cmAuthor id="38" name="mazifeng@dripcar.net" initials="m" lastIdx="0" clrIdx="37"/>
  <p:cmAuthor id="39" name="Katherine Zimoulis" initials="" lastIdx="0" clrIdx="38"/>
  <p:cmAuthor id="40" name="王向羽" initials="王" lastIdx="0" clrIdx="39"/>
  <p:cmAuthor id="41" name="qiyu" initials="q" lastIdx="0" clrIdx="40"/>
  <p:cmAuthor id="42" name="EDZ" initials="E" lastIdx="0" clrIdx="41"/>
  <p:cmAuthor id="43" name="运营" initials="运" lastIdx="0" clrIdx="42"/>
  <p:cmAuthor id="44" name="吴军" initials="吴" lastIdx="0" clrIdx="43"/>
  <p:cmAuthor id="45" name="盛纵运营小组" initials="Office [32]" lastIdx="0" clrIdx="44"/>
  <p:cmAuthor id="46" name="1206988966@qq.com" initials="1" lastIdx="0" clrIdx="45"/>
  <p:cmAuthor id="47" name="番茄花园" initials="番" lastIdx="0" clrIdx="46"/>
  <p:cmAuthor id="48" name="姜伟光" initials="姜" lastIdx="0" clrIdx="47"/>
  <p:cmAuthor id="49" name="evil" initials="e" lastIdx="0" clrIdx="48"/>
  <p:cmAuthor id="50" name=" " initials=" " lastIdx="0" clrIdx="49"/>
  <p:cmAuthor id="51" name="dell" initials="d" lastIdx="0" clrIdx="50"/>
  <p:cmAuthor id="52" name="Apollo-Family" initials="A" lastIdx="0" clrIdx="51"/>
  <p:cmAuthor id="53" name="叶得会" initials="叶" lastIdx="0" clrIdx="52"/>
  <p:cmAuthor id="54" name="likehan" initials="l" lastIdx="0" clrIdx="53"/>
  <p:cmAuthor id="55" name="asus" initials="a" lastIdx="0" clrIdx="54"/>
  <p:cmAuthor id="56" name="未知用户2" initials="未" lastIdx="0" clrIdx="55"/>
  <p:cmAuthor id="57" name="Beta" initials="B" lastIdx="0" clrIdx="56"/>
  <p:cmAuthor id="58" name="未知用户9" initials="未" lastIdx="0" clrIdx="57"/>
  <p:cmAuthor id="59" name="hebing" initials="h" lastIdx="0" clrIdx="58"/>
  <p:cmAuthor id="60" name="USER" initials="U" lastIdx="0" clrIdx="59"/>
  <p:cmAuthor id="61" name="yefei" initials="y" lastIdx="0" clrIdx="60"/>
  <p:cmAuthor id="62" name="未知用户17" initials="未" lastIdx="0" clrIdx="61"/>
  <p:cmAuthor id="63" name="tudoudou" initials="t" lastIdx="0" clrIdx="62"/>
  <p:cmAuthor id="64" name="未知用户18" initials="未" lastIdx="0" clrIdx="63"/>
  <p:cmAuthor id="65" name="未知用户20" initials="未" lastIdx="0" clrIdx="64"/>
  <p:cmAuthor id="66" name="周頔" initials="周" lastIdx="0" clrIdx="65"/>
  <p:cmAuthor id="67" name="未知用户19" initials="未" lastIdx="0" clrIdx="66"/>
  <p:cmAuthor id="68" name="rou" initials="r" lastIdx="0" clrIdx="67"/>
  <p:cmAuthor id="69" name="Lzy" initials="L" lastIdx="0" clrIdx="68"/>
  <p:cmAuthor id="70" name="陈尚文" initials="陈" lastIdx="0" clrIdx="69"/>
  <p:cmAuthor id="71" name="张宏伟" initials="张" lastIdx="0" clrIdx="70"/>
  <p:cmAuthor id="72" name="张 开阔" initials="张" lastIdx="0" clrIdx="71"/>
  <p:cmAuthor id="73" name="刘彤彤" initials="刘" lastIdx="0" clrIdx="72"/>
  <p:cmAuthor id="74" name="admin" initials="a" lastIdx="0" clrIdx="73"/>
  <p:cmAuthor id="75" name="334857932@qq.com" initials="3" lastIdx="0" clrIdx="74"/>
  <p:cmAuthor id="76" name="KC" initials="K" lastIdx="0" clrIdx="75"/>
  <p:cmAuthor id="77" name="Hanna" initials="H" lastIdx="0" clrIdx="76"/>
  <p:cmAuthor id="78" name="DFPV" initials="D" lastIdx="0" clrIdx="77"/>
  <p:cmAuthor id="79" name="Yu.hang.AU" initials="Y" lastIdx="0" clrIdx="78"/>
  <p:cmAuthor id="80" name="Tangzj" initials="T" lastIdx="0" clrIdx="79"/>
  <p:cmAuthor id="81" name="宋少霞" initials="宋" lastIdx="0" clrIdx="80"/>
  <p:cmAuthor id="82" name="二喵麻麻" initials="二" lastIdx="0" clrIdx="81"/>
  <p:cmAuthor id="83" name="张 爱桢" initials="张" lastIdx="0" clrIdx="82"/>
  <p:cmAuthor id="84" name="运 赵" initials="运" lastIdx="0" clrIdx="83"/>
  <p:cmAuthor id="85" name="54688" initials="5" lastIdx="0" clrIdx="84"/>
  <p:cmAuthor id="86" name="ali maher" initials="a" lastIdx="0" clrIdx="85"/>
  <p:cmAuthor id="87" name="EDY" initials="E" lastIdx="0" clrIdx="86"/>
  <p:cmAuthor id="88" name="byd" initials="b" lastIdx="0" clrIdx="87"/>
  <p:cmAuthor id="89" name="别 枋柏" initials="别" lastIdx="0" clrIdx="88"/>
  <p:cmAuthor id="90" name="李创泽_Jf2uyAj6" initials="李" lastIdx="0" clrIdx="89"/>
  <p:cmAuthor id="91" name="骆倩怡_Znauj26B" initials="骆" lastIdx="0" clrIdx="90"/>
  <p:cmAuthor id="92" name="超级塞亚人" initials="超" lastIdx="0" clrIdx="91"/>
  <p:cmAuthor id="93" name="未知用户4" initials="未" lastIdx="0" clrIdx="92"/>
  <p:cmAuthor id="94" name="惠 志行" initials="惠" lastIdx="0" clrIdx="93"/>
  <p:cmAuthor id="95" name="未知用户6" initials="未" lastIdx="0" clrIdx="94"/>
  <p:cmAuthor id="96" name="未知用户7" initials="未" lastIdx="0" clrIdx="95"/>
  <p:cmAuthor id="97" name="未知用户8" initials="未" lastIdx="0" clrIdx="96"/>
  <p:cmAuthor id="98" name="王 晓鹏" initials="王" lastIdx="0" clrIdx="97"/>
  <p:cmAuthor id="99" name="visconti ." initials="v" lastIdx="0" clrIdx="98"/>
  <p:cmAuthor id="100" name="千千美少女" initials="千" lastIdx="0" clrIdx="99"/>
  <p:cmAuthor id="101" name="荣耀" initials="荣" lastIdx="0" clrIdx="100"/>
  <p:cmAuthor id="102" name="姜贝" initials="姜" lastIdx="0" clrIdx="101"/>
  <p:cmAuthor id="103" name="QSW" initials="Q" lastIdx="0" clrIdx="102"/>
  <p:cmAuthor id="104" name="mac" initials="m" lastIdx="0" clrIdx="103"/>
  <p:cmAuthor id="105" name="ZhangYu" initials="Z" lastIdx="0" clrIdx="104"/>
  <p:cmAuthor id="106" name="jing.xue" initials="j" lastIdx="0" clrIdx="105"/>
  <p:cmAuthor id="107" name="86136" initials="8" lastIdx="0" clrIdx="106"/>
  <p:cmAuthor id="108" name="何慧丽" initials="何" lastIdx="0" clrIdx="107"/>
  <p:cmAuthor id="109" name="feng wei" initials="f" lastIdx="0" clrIdx="108"/>
  <p:cmAuthor id="110" name="刘思蜀" initials="刘" lastIdx="0" clrIdx="109"/>
  <p:cmAuthor id="111" name="tkqd" initials="t" lastIdx="0" clrIdx="110"/>
  <p:cmAuthor id="112" name="张祺" initials="张" lastIdx="0" clrIdx="111"/>
  <p:cmAuthor id="113" name="黄玲倩" initials="黄" lastIdx="0" clrIdx="112"/>
  <p:cmAuthor id="114" name="御剑临风" initials="御" lastIdx="0" clrIdx="113"/>
  <p:cmAuthor id="115" name="Bonan Qi" initials="B" lastIdx="0" clrIdx="114"/>
  <p:cmAuthor id="116" name="yaoxiaojun" initials="y" lastIdx="0" clrIdx="115"/>
  <p:cmAuthor id="117" name="zhenwb" initials="z" lastIdx="0" clrIdx="116"/>
  <p:cmAuthor id="118" name="wangcz2" initials="w" lastIdx="0" clrIdx="117"/>
  <p:cmAuthor id="119" name="Power" initials="P" lastIdx="0" clrIdx="118"/>
  <p:cmAuthor id="120" name="tianan" initials="t" lastIdx="0" clrIdx="119"/>
  <p:cmAuthor id="121" name="小玖" initials="小" lastIdx="0" clrIdx="120"/>
  <p:cmAuthor id="122" name="吕震" initials="吕" lastIdx="0" clrIdx="121"/>
  <p:cmAuthor id="123" name="郝崇" initials="郝" lastIdx="0" clrIdx="122"/>
  <p:cmAuthor id="124" name="G6agH0aZng" initials="G" lastIdx="0" clrIdx="123"/>
  <p:cmAuthor id="125" name="未知用户21" initials="未" lastIdx="0" clrIdx="124"/>
  <p:cmAuthor id="126" name="jxgy15" initials="j" lastIdx="0" clrIdx="125"/>
  <p:cmAuthor id="127" name="朱粒" initials="朱" lastIdx="0" clrIdx="126"/>
  <p:cmAuthor id="128" name="张杰" initials="张" lastIdx="0" clrIdx="127"/>
  <p:cmAuthor id="129" name="H1900" initials="H" lastIdx="0" clrIdx="128"/>
  <p:cmAuthor id="130" name="王航" initials="王" lastIdx="0" clrIdx="129"/>
  <p:cmAuthor id="131" name="退堂鼓专业表演艺术家" initials="退" lastIdx="0" clrIdx="130"/>
  <p:cmAuthor id="132" name="回校" initials="回" lastIdx="0" clrIdx="131"/>
  <p:cmAuthor id="133" name="张 上明珠" initials="张" lastIdx="0" clrIdx="132"/>
  <p:cmAuthor id="134" name="安晓敏" initials="安" lastIdx="0" clrIdx="133"/>
  <p:cmAuthor id="135" name="一中 孙" initials="一" lastIdx="0" clrIdx="134"/>
  <p:cmAuthor id="136" name="Sonmus" initials="S" lastIdx="0" clrIdx="135"/>
  <p:cmAuthor id="137" name="谢玲" initials="谢" lastIdx="0" clrIdx="136"/>
  <p:cmAuthor id="138" name="婷 张" initials="婷" lastIdx="0" clrIdx="137"/>
  <p:cmAuthor id="139" name="夏钰璋(智能软件中心)" initials="夏" lastIdx="0" clrIdx="138"/>
  <p:cmAuthor id="140" name="yangdi" initials="y" lastIdx="0" clrIdx="139"/>
  <p:cmAuthor id="141" name="85343" initials="8" lastIdx="0" clrIdx="140"/>
  <p:cmAuthor id="142" name="未知用户28" initials="未" lastIdx="0" clrIdx="141"/>
  <p:cmAuthor id="143" name="未知用户29" initials="未" lastIdx="0" clrIdx="142"/>
  <p:cmAuthor id="144" name="吴晓梅" initials="吴" lastIdx="0" clrIdx="143"/>
  <p:cmAuthor id="145" name="yangkun" initials="y" lastIdx="0" clrIdx="144"/>
  <p:cmAuthor id="146" name="Lenovo User" initials="L" lastIdx="0" clrIdx="145"/>
  <p:cmAuthor id="147" name="hys2" initials="h" lastIdx="0" clrIdx="146"/>
  <p:cmAuthor id="148" name="朱绍春" initials="朱" lastIdx="0" clrIdx="147"/>
  <p:cmAuthor id="149" name="邹洋" initials="邹" lastIdx="0" clrIdx="148"/>
  <p:cmAuthor id="150" name="Han Bo" initials="H" lastIdx="0" clrIdx="149"/>
  <p:cmAuthor id="151" name="贡鑫" initials="贡" lastIdx="0" clrIdx="150"/>
  <p:cmAuthor id="152" name="administrator1" initials="a" lastIdx="0" clrIdx="151"/>
  <p:cmAuthor id="153" name="潘德亮" initials="潘" lastIdx="0" clrIdx="152"/>
  <p:cmAuthor id="154" name="杜雪梅" initials="杜" lastIdx="0" clrIdx="153"/>
  <p:cmAuthor id="155" name="仝德志" initials="仝" lastIdx="0" clrIdx="154"/>
  <p:cmAuthor id="156" name="马静" initials="马" lastIdx="0" clrIdx="155"/>
  <p:cmAuthor id="157" name="liying" initials="l" lastIdx="0" clrIdx="156"/>
  <p:cmAuthor id="158" name="张钦" initials="张" lastIdx="0" clrIdx="157"/>
  <p:cmAuthor id="159" name="nine" initials="n" lastIdx="0" clrIdx="158"/>
  <p:cmAuthor id="160" name="涛娜" initials="涛" lastIdx="0" clrIdx="159"/>
  <p:cmAuthor id="161" name="桓蕾" initials="桓" lastIdx="0" clrIdx="160"/>
  <p:cmAuthor id="162" name="李刚" initials="李" lastIdx="0" clrIdx="161"/>
  <p:cmAuthor id="163" name="wang yuxiao" initials="w" lastIdx="0" clrIdx="162"/>
  <p:cmAuthor id="164" name="鲍华明" initials="鲍" lastIdx="0" clrIdx="163"/>
  <p:cmAuthor id="165" name="刘广艳" initials="刘" lastIdx="0" clrIdx="164"/>
  <p:cmAuthor id="166" name="邹积逊" initials="邹" lastIdx="0" clrIdx="165"/>
  <p:cmAuthor id="167" name="Grayzhang" initials="G" lastIdx="0" clrIdx="166"/>
  <p:cmAuthor id="168" name="aaron" initials="a" lastIdx="0" clrIdx="167"/>
  <p:cmAuthor id="169" name="吕志勇" initials="吕" lastIdx="0" clrIdx="168"/>
  <p:cmAuthor id="170" name="驰鹤 曾" initials="驰鹤" lastIdx="0" clrIdx="169"/>
  <p:cmAuthor id="171" name="韩云飞(东风汽车集团股份有限公司经营管理部经营管理中心)" initials="韩云飞(东风汽车集团股份有限公司经营管理部经营管理中心)" lastIdx="0" clrIdx="170"/>
  <p:cmAuthor id="172" name="胡强（东创紫联）" initials="胡强（东创紫联）" lastIdx="0" clrIdx="171"/>
  <p:cmAuthor id="173" name="lmj__0304@163.com" initials="l" lastIdx="0" clrIdx="172"/>
  <p:cmAuthor id="174" name="微软用户" initials="微" lastIdx="0" clrIdx="173"/>
  <p:cmAuthor id="175" name="yifei" initials="y" lastIdx="0" clrIdx="174"/>
  <p:cmAuthor id="176" name="徐徐的贴心小朱丽" initials="徐" lastIdx="0" clrIdx="175"/>
  <p:cmAuthor id="177" name="江 芷咏" initials="江" lastIdx="0" clrIdx="176"/>
  <p:cmAuthor id="178" name="25127" initials="2" lastIdx="0" clrIdx="177"/>
  <p:cmAuthor id="179" name="DNA" initials="D" lastIdx="0" clrIdx="178"/>
  <p:cmAuthor id="180" name="Chris Kun Yu Lin" initials="C" lastIdx="0" clrIdx="179"/>
  <p:cmAuthor id="181" name="ma yan" initials="my" lastIdx="0" clrIdx="180"/>
  <p:cmAuthor id="182" name="hongjing" initials="h" lastIdx="0" clrIdx="181"/>
  <p:cmAuthor id="183" name="hyrx05" initials="h" lastIdx="0" clrIdx="182"/>
  <p:cmAuthor id="184" name="8204688" initials="8" lastIdx="0" clrIdx="183"/>
  <p:cmAuthor id="185" name="61683" initials="6" lastIdx="0" clrIdx="184"/>
  <p:cmAuthor id="186" name="INNPT" initials="I" lastIdx="0" clrIdx="185"/>
  <p:cmAuthor id="187" name="小梦" initials="小" lastIdx="0" clrIdx="186"/>
  <p:cmAuthor id="188" name="huasiting" initials="h" lastIdx="0" clrIdx="187"/>
  <p:cmAuthor id="189" name="张雁" initials="张" lastIdx="0" clrIdx="188"/>
  <p:cmAuthor id="190" name="陈桂枝" initials="陈" lastIdx="0" clrIdx="189"/>
  <p:cmAuthor id="191" name="未知用户12" initials="未" lastIdx="0" clrIdx="190"/>
  <p:cmAuthor id="192" name="Microsoft 帐户" initials="M" lastIdx="0" clrIdx="191"/>
  <p:cmAuthor id="193" name="刘艳龙" initials="刘" lastIdx="0" clrIdx="192"/>
  <p:cmAuthor id="194" name="李威" initials="李" lastIdx="0" clrIdx="193"/>
  <p:cmAuthor id="195" name="李明" initials="李" lastIdx="0" clrIdx="194"/>
  <p:cmAuthor id="196" name="未知用户1" initials="未" lastIdx="0" clrIdx="195"/>
  <p:cmAuthor id="197" name="朱悦龙" initials="朱" lastIdx="0" clrIdx="196"/>
  <p:cmAuthor id="198" name="吴铁映" initials="吴" lastIdx="0" clrIdx="197"/>
  <p:cmAuthor id="199" name="闫宏超_367feQRJ" initials="authorId_377826930" lastIdx="0" clrIdx="198"/>
  <p:cmAuthor id="200" name="未知用户3" initials="未" lastIdx="0" clrIdx="199"/>
  <p:cmAuthor id="201" name="haixu liu" initials="hl" lastIdx="0" clrIdx="200"/>
  <p:cmAuthor id="202" name="thinkpad" initials="t" lastIdx="0" clrIdx="201"/>
  <p:cmAuthor id="203" name="刘传坤" initials="刘" lastIdx="0" clrIdx="202"/>
  <p:cmAuthor id="204" name="panhong" initials="p" lastIdx="0" clrIdx="203"/>
  <p:cmAuthor id="205" name="未知用户5" initials="未" lastIdx="0" clrIdx="204"/>
  <p:cmAuthor id="206" name="李丽华" initials="李" lastIdx="0" clrIdx="205"/>
  <p:cmAuthor id="207" name="jl liu" initials="j" lastIdx="0" clrIdx="206"/>
  <p:cmAuthor id="208" name="未定义" initials="未" lastIdx="0" clrIdx="207"/>
  <p:cmAuthor id="209" name="张惠" initials="张" lastIdx="0" clrIdx="208"/>
  <p:cmAuthor id="210" name="吴铭锐" initials="吴" lastIdx="0" clrIdx="209"/>
  <p:cmAuthor id="211" name="李百秋" initials="李" lastIdx="0" clrIdx="210"/>
  <p:cmAuthor id="212" name="杨静" initials="杨" lastIdx="0" clrIdx="211"/>
  <p:cmAuthor id="213" name="Zhou, Judy" initials="Z" lastIdx="0" clrIdx="212"/>
  <p:cmAuthor id="214" name="范作霖" initials="范" lastIdx="0" clrIdx="213"/>
  <p:cmAuthor id="215" name="张立鑫" initials="张" lastIdx="0" clrIdx="214"/>
  <p:cmAuthor id="216" name="包珊珊" initials="包" lastIdx="0" clrIdx="215"/>
  <p:cmAuthor id="217" name="YuQing" initials="Y" lastIdx="0" clrIdx="216"/>
  <p:cmAuthor id="218" name="Youwen Sun" initials="Y" lastIdx="0" clrIdx="217"/>
  <p:cmAuthor id="219" name="未知" initials="未" lastIdx="0" clrIdx="218"/>
  <p:cmAuthor id="220" name="周满红" initials="周" lastIdx="0" clrIdx="219"/>
  <p:cmAuthor id="221" name="未知用户10" initials="未" lastIdx="0" clrIdx="220"/>
  <p:cmAuthor id="222" name="未知用户11" initials="未" lastIdx="0" clrIdx="221"/>
  <p:cmAuthor id="223" name="魏永生" initials="魏" lastIdx="0" clrIdx="222"/>
  <p:cmAuthor id="224" name="dingbo" initials="d" lastIdx="0" clrIdx="223"/>
  <p:cmAuthor id="225" name="吴杰" initials="吴" lastIdx="0" clrIdx="224"/>
  <p:cmAuthor id="226" name="刘丽仙" initials="刘" lastIdx="0" clrIdx="225"/>
  <p:cmAuthor id="227" name="陶川" initials="陶" lastIdx="0" clrIdx="226"/>
  <p:cmAuthor id="228" name="杨艳霞" initials="杨" lastIdx="0" clrIdx="227"/>
  <p:cmAuthor id="229" name="吕喜龙" initials="吕" lastIdx="0" clrIdx="228"/>
  <p:cmAuthor id="230" name="朱 祉裕" initials="朱" lastIdx="0" clrIdx="229"/>
  <p:cmAuthor id="231" name="未知用户27" initials="未" lastIdx="0" clrIdx="230"/>
  <p:cmAuthor id="232" name="未知用户30" initials="未" lastIdx="0" clrIdx="231"/>
  <p:cmAuthor id="233" name="孟祥超" initials="孟" lastIdx="0" clrIdx="232"/>
  <p:cmAuthor id="234" name="gw0400395" initials="g" lastIdx="0" clrIdx="233"/>
  <p:cmAuthor id="235" name="孟磊" initials="孟磊" lastIdx="0" clrIdx="234"/>
  <p:cmAuthor id="236" name="12032" initials="1" lastIdx="0" clrIdx="235"/>
  <p:cmAuthor id="237" name="张典姝" initials="D" lastIdx="0" clrIdx="236"/>
  <p:cmAuthor id="238" name="Omilion, Ryan" initials="O" lastIdx="0" clrIdx="237"/>
  <p:cmAuthor id="239" name="user" initials="u" lastIdx="0" clrIdx="238"/>
  <p:cmAuthor id="240" name="Catherine Strahan" initials="C" lastIdx="0" clrIdx="239"/>
  <p:cmAuthor id="241" name="Author" initials="A" lastIdx="0" clrIdx="240"/>
  <p:cmAuthor id="242" name="Dong,Jessie,ShangHai,Wyeth Nutrition CN Medical2" initials="DNCM" lastIdx="0" clrIdx="241"/>
  <p:cmAuthor id="243" name="changan" initials="c" lastIdx="0" clrIdx="24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7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4" Type="http://schemas.openxmlformats.org/officeDocument/2006/relationships/notesMaster" Target="notesMasters/notesMaster1.xml"/><Relationship Id="rId9" Type="http://schemas.openxmlformats.org/officeDocument/2006/relationships/slide" Target="slides/slide6.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ableStyles" Target="tableStyles.xml"/><Relationship Id="rId15"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同时通过在九大平台进行优先占位，及对于无法降沉的负面评论进行楼中楼对冲。</a:t>
            </a:r>
            <a:r>
              <a:rPr lang="zh-CN" altLang="en-US" sz="1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通过补强包强化评论及优化舆情分级的形式实现更大规模的平台覆盖及更稳的评论占位，</a:t>
            </a:r>
            <a:r>
              <a:rPr lang="zh-CN" altLang="en-US" dirty="0"/>
              <a:t>整体上市期间预计完成评论链接</a:t>
            </a:r>
            <a:r>
              <a:rPr lang="en-US" altLang="zh-CN" dirty="0"/>
              <a:t>8000</a:t>
            </a:r>
            <a:r>
              <a:rPr lang="zh-CN" altLang="en-US" dirty="0"/>
              <a:t>条，评论内容</a:t>
            </a:r>
            <a:r>
              <a:rPr lang="en-US" altLang="zh-CN" dirty="0"/>
              <a:t>15</a:t>
            </a:r>
            <a:r>
              <a:rPr lang="zh-CN" altLang="en-US" dirty="0"/>
              <a:t>万条，互动加热</a:t>
            </a:r>
            <a:r>
              <a:rPr lang="en-US" altLang="zh-CN" dirty="0"/>
              <a:t>18</a:t>
            </a:r>
            <a:r>
              <a:rPr lang="zh-CN" altLang="en-US" dirty="0"/>
              <a:t>万。</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ags" Target="../tags/tag62.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49.png"/><Relationship Id="rId11" Type="http://schemas.openxmlformats.org/officeDocument/2006/relationships/tags" Target="../tags/tag73.xml"/><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tags" Target="../tags/tag74.xml"/><Relationship Id="rId16" Type="http://schemas.openxmlformats.org/officeDocument/2006/relationships/image" Target="../media/image53.jpeg"/><Relationship Id="rId17" Type="http://schemas.openxmlformats.org/officeDocument/2006/relationships/tags" Target="../tags/tag75.xml"/><Relationship Id="rId18" Type="http://schemas.openxmlformats.org/officeDocument/2006/relationships/image" Target="../media/image54.jpeg"/><Relationship Id="rId19" Type="http://schemas.openxmlformats.org/officeDocument/2006/relationships/image" Target="../media/image55.png"/><Relationship Id="rId20" Type="http://schemas.openxmlformats.org/officeDocument/2006/relationships/image" Target="../media/image56.png"/><Relationship Id="rId21" Type="http://schemas.openxmlformats.org/officeDocument/2006/relationships/image" Target="../media/image57.png"/><Relationship Id="rId22" Type="http://schemas.openxmlformats.org/officeDocument/2006/relationships/image" Target="../media/image58.png"/><Relationship Id="rId23" Type="http://schemas.openxmlformats.org/officeDocument/2006/relationships/tags" Target="../tags/tag76.xml"/><Relationship Id="rId24" Type="http://schemas.openxmlformats.org/officeDocument/2006/relationships/slideLayout" Target="../slideLayouts/slideLayout7.xml"/><Relationship Id="rId25" Type="http://schemas.openxmlformats.org/officeDocument/2006/relationships/notesSlide" Target="../notesSlides/notesSlide6.xml"/></Relationships>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6198426" y="2140280"/>
            <a:ext cx="5460174" cy="3283775"/>
            <a:chOff x="5493871" y="2195195"/>
            <a:chExt cx="6332369" cy="4496435"/>
          </a:xfrm>
        </p:grpSpPr>
        <p:pic>
          <p:nvPicPr>
            <p:cNvPr id="32" name="图片 31"/>
            <p:cNvPicPr>
              <a:picLocks noChangeAspect="1"/>
            </p:cNvPicPr>
            <p:nvPr/>
          </p:nvPicPr>
          <p:blipFill>
            <a:blip r:embed="rId1"/>
            <a:stretch>
              <a:fillRect/>
            </a:stretch>
          </p:blipFill>
          <p:spPr>
            <a:xfrm>
              <a:off x="9079230" y="5814060"/>
              <a:ext cx="2747010" cy="869950"/>
            </a:xfrm>
            <a:prstGeom prst="rect">
              <a:avLst/>
            </a:prstGeom>
          </p:spPr>
        </p:pic>
        <p:pic>
          <p:nvPicPr>
            <p:cNvPr id="20" name="图片 19"/>
            <p:cNvPicPr>
              <a:picLocks noChangeAspect="1"/>
            </p:cNvPicPr>
            <p:nvPr/>
          </p:nvPicPr>
          <p:blipFill>
            <a:blip r:embed="rId2"/>
            <a:srcRect l="9181" r="8417" b="-85"/>
            <a:stretch>
              <a:fillRect/>
            </a:stretch>
          </p:blipFill>
          <p:spPr>
            <a:xfrm>
              <a:off x="5579745" y="2691130"/>
              <a:ext cx="3499485" cy="4000500"/>
            </a:xfrm>
            <a:prstGeom prst="rect">
              <a:avLst/>
            </a:prstGeom>
          </p:spPr>
        </p:pic>
        <p:pic>
          <p:nvPicPr>
            <p:cNvPr id="22" name="图片 21"/>
            <p:cNvPicPr>
              <a:picLocks noChangeAspect="1"/>
            </p:cNvPicPr>
            <p:nvPr/>
          </p:nvPicPr>
          <p:blipFill>
            <a:blip r:embed="rId3"/>
            <a:stretch>
              <a:fillRect/>
            </a:stretch>
          </p:blipFill>
          <p:spPr>
            <a:xfrm>
              <a:off x="5579745" y="2195195"/>
              <a:ext cx="6214745" cy="1119505"/>
            </a:xfrm>
            <a:prstGeom prst="rect">
              <a:avLst/>
            </a:prstGeom>
            <a:effectLst>
              <a:outerShdw blurRad="50800" dist="38100" dir="2700000" algn="tl" rotWithShape="0">
                <a:prstClr val="black">
                  <a:alpha val="40000"/>
                </a:prstClr>
              </a:outerShdw>
            </a:effectLst>
          </p:spPr>
        </p:pic>
        <p:pic>
          <p:nvPicPr>
            <p:cNvPr id="24" name="图片 23"/>
            <p:cNvPicPr>
              <a:picLocks noChangeAspect="1"/>
            </p:cNvPicPr>
            <p:nvPr/>
          </p:nvPicPr>
          <p:blipFill>
            <a:blip r:embed="rId4"/>
            <a:stretch>
              <a:fillRect/>
            </a:stretch>
          </p:blipFill>
          <p:spPr>
            <a:xfrm>
              <a:off x="9079230" y="3352800"/>
              <a:ext cx="2746375" cy="739140"/>
            </a:xfrm>
            <a:prstGeom prst="rect">
              <a:avLst/>
            </a:prstGeom>
          </p:spPr>
        </p:pic>
        <p:pic>
          <p:nvPicPr>
            <p:cNvPr id="25" name="图片 24"/>
            <p:cNvPicPr>
              <a:picLocks noChangeAspect="1"/>
            </p:cNvPicPr>
            <p:nvPr/>
          </p:nvPicPr>
          <p:blipFill>
            <a:blip r:embed="rId5"/>
            <a:stretch>
              <a:fillRect/>
            </a:stretch>
          </p:blipFill>
          <p:spPr>
            <a:xfrm>
              <a:off x="9079230" y="4091940"/>
              <a:ext cx="2745740" cy="685165"/>
            </a:xfrm>
            <a:prstGeom prst="rect">
              <a:avLst/>
            </a:prstGeom>
          </p:spPr>
        </p:pic>
        <p:pic>
          <p:nvPicPr>
            <p:cNvPr id="26" name="图片 25"/>
            <p:cNvPicPr>
              <a:picLocks noChangeAspect="1"/>
            </p:cNvPicPr>
            <p:nvPr/>
          </p:nvPicPr>
          <p:blipFill>
            <a:blip r:embed="rId6"/>
            <a:stretch>
              <a:fillRect/>
            </a:stretch>
          </p:blipFill>
          <p:spPr>
            <a:xfrm>
              <a:off x="9078595" y="4777105"/>
              <a:ext cx="2747010" cy="672465"/>
            </a:xfrm>
            <a:prstGeom prst="rect">
              <a:avLst/>
            </a:prstGeom>
          </p:spPr>
        </p:pic>
        <p:pic>
          <p:nvPicPr>
            <p:cNvPr id="27" name="图片 26"/>
            <p:cNvPicPr>
              <a:picLocks noChangeAspect="1"/>
            </p:cNvPicPr>
            <p:nvPr/>
          </p:nvPicPr>
          <p:blipFill>
            <a:blip r:embed="rId7"/>
            <a:stretch>
              <a:fillRect/>
            </a:stretch>
          </p:blipFill>
          <p:spPr>
            <a:xfrm>
              <a:off x="9079230" y="5325745"/>
              <a:ext cx="2747010" cy="635000"/>
            </a:xfrm>
            <a:prstGeom prst="rect">
              <a:avLst/>
            </a:prstGeom>
          </p:spPr>
        </p:pic>
        <p:sp>
          <p:nvSpPr>
            <p:cNvPr id="3" name="圆角矩形 2"/>
            <p:cNvSpPr/>
            <p:nvPr/>
          </p:nvSpPr>
          <p:spPr>
            <a:xfrm>
              <a:off x="5493871" y="3999865"/>
              <a:ext cx="6231890" cy="699093"/>
            </a:xfrm>
            <a:prstGeom prst="round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solidFill>
                    <a:schemeClr val="tx1"/>
                  </a:solidFill>
                  <a:latin typeface="微软雅黑" panose="020B0503020204020204" charset="-122"/>
                  <a:ea typeface="微软雅黑" panose="020B0503020204020204" charset="-122"/>
                  <a:cs typeface="微软雅黑" panose="020B0503020204020204" charset="-122"/>
                  <a:sym typeface="+mn-ea"/>
                </a:rPr>
                <a:t>上市期间预计完成评论区主贴链接：</a:t>
              </a:r>
              <a:r>
                <a:rPr lang="en-US" altLang="zh-CN" sz="1400" b="1" dirty="0">
                  <a:solidFill>
                    <a:schemeClr val="tx1"/>
                  </a:solidFill>
                  <a:latin typeface="微软雅黑" panose="020B0503020204020204" charset="-122"/>
                  <a:ea typeface="微软雅黑" panose="020B0503020204020204" charset="-122"/>
                  <a:cs typeface="微软雅黑" panose="020B0503020204020204" charset="-122"/>
                  <a:sym typeface="+mn-ea"/>
                </a:rPr>
                <a:t>8000</a:t>
              </a:r>
              <a:r>
                <a:rPr lang="zh-CN" altLang="en-US" sz="1400" b="1" dirty="0">
                  <a:solidFill>
                    <a:schemeClr val="tx1"/>
                  </a:solidFill>
                  <a:latin typeface="微软雅黑" panose="020B0503020204020204" charset="-122"/>
                  <a:ea typeface="微软雅黑" panose="020B0503020204020204" charset="-122"/>
                  <a:cs typeface="微软雅黑" panose="020B0503020204020204" charset="-122"/>
                  <a:sym typeface="+mn-ea"/>
                </a:rPr>
                <a:t>条</a:t>
              </a:r>
              <a:endParaRPr lang="en-US" altLang="zh-CN" sz="1400"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400" b="1" dirty="0">
                  <a:solidFill>
                    <a:schemeClr val="tx1"/>
                  </a:solidFill>
                  <a:latin typeface="微软雅黑" panose="020B0503020204020204" charset="-122"/>
                  <a:ea typeface="微软雅黑" panose="020B0503020204020204" charset="-122"/>
                  <a:cs typeface="微软雅黑" panose="020B0503020204020204" charset="-122"/>
                  <a:sym typeface="+mn-ea"/>
                </a:rPr>
                <a:t>评论内容</a:t>
              </a:r>
              <a:r>
                <a:rPr lang="en-US" altLang="zh-CN" sz="1400" b="1" dirty="0">
                  <a:solidFill>
                    <a:schemeClr val="tx1"/>
                  </a:solidFill>
                  <a:latin typeface="微软雅黑" panose="020B0503020204020204" charset="-122"/>
                  <a:ea typeface="微软雅黑" panose="020B0503020204020204" charset="-122"/>
                  <a:cs typeface="微软雅黑" panose="020B0503020204020204" charset="-122"/>
                  <a:sym typeface="+mn-ea"/>
                </a:rPr>
                <a:t>15W+</a:t>
              </a:r>
              <a:r>
                <a:rPr lang="zh-CN" altLang="en-US" sz="1400" b="1" dirty="0">
                  <a:solidFill>
                    <a:schemeClr val="tx1"/>
                  </a:solidFill>
                  <a:latin typeface="微软雅黑" panose="020B0503020204020204" charset="-122"/>
                  <a:ea typeface="微软雅黑" panose="020B0503020204020204" charset="-122"/>
                  <a:cs typeface="微软雅黑" panose="020B0503020204020204" charset="-122"/>
                  <a:sym typeface="+mn-ea"/>
                </a:rPr>
                <a:t>条，互动点赞</a:t>
              </a:r>
              <a:r>
                <a:rPr lang="en-US" altLang="zh-CN" sz="1400" b="1" dirty="0">
                  <a:solidFill>
                    <a:schemeClr val="tx1"/>
                  </a:solidFill>
                  <a:latin typeface="微软雅黑" panose="020B0503020204020204" charset="-122"/>
                  <a:ea typeface="微软雅黑" panose="020B0503020204020204" charset="-122"/>
                  <a:cs typeface="微软雅黑" panose="020B0503020204020204" charset="-122"/>
                  <a:sym typeface="+mn-ea"/>
                </a:rPr>
                <a:t>18W+</a:t>
              </a:r>
              <a:endParaRPr lang="en-US" altLang="zh-CN" sz="14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pic>
        <p:nvPicPr>
          <p:cNvPr id="29" name="图片 28"/>
          <p:cNvPicPr>
            <a:picLocks noChangeAspect="1"/>
          </p:cNvPicPr>
          <p:nvPr/>
        </p:nvPicPr>
        <p:blipFill>
          <a:blip r:embed="rId8"/>
          <a:srcRect l="71964"/>
          <a:stretch>
            <a:fillRect/>
          </a:stretch>
        </p:blipFill>
        <p:spPr>
          <a:xfrm>
            <a:off x="4090754" y="2135636"/>
            <a:ext cx="1591058" cy="3005000"/>
          </a:xfrm>
          <a:prstGeom prst="rect">
            <a:avLst/>
          </a:prstGeom>
        </p:spPr>
      </p:pic>
      <p:grpSp>
        <p:nvGrpSpPr>
          <p:cNvPr id="7" name="组合 6"/>
          <p:cNvGrpSpPr/>
          <p:nvPr/>
        </p:nvGrpSpPr>
        <p:grpSpPr>
          <a:xfrm>
            <a:off x="612788" y="2248231"/>
            <a:ext cx="2884488" cy="3862845"/>
            <a:chOff x="305728" y="3250074"/>
            <a:chExt cx="1595968" cy="2471911"/>
          </a:xfrm>
        </p:grpSpPr>
        <p:pic>
          <p:nvPicPr>
            <p:cNvPr id="30" name="图片 29"/>
            <p:cNvPicPr>
              <a:picLocks noChangeAspect="1"/>
            </p:cNvPicPr>
            <p:nvPr/>
          </p:nvPicPr>
          <p:blipFill>
            <a:blip r:embed="rId9"/>
            <a:stretch>
              <a:fillRect/>
            </a:stretch>
          </p:blipFill>
          <p:spPr>
            <a:xfrm>
              <a:off x="305728" y="3272891"/>
              <a:ext cx="1595968" cy="2449094"/>
            </a:xfrm>
            <a:prstGeom prst="rect">
              <a:avLst/>
            </a:prstGeom>
          </p:spPr>
        </p:pic>
        <p:pic>
          <p:nvPicPr>
            <p:cNvPr id="9" name="图片 8"/>
            <p:cNvPicPr>
              <a:picLocks noChangeAspect="1"/>
            </p:cNvPicPr>
            <p:nvPr/>
          </p:nvPicPr>
          <p:blipFill>
            <a:blip r:embed="rId10"/>
            <a:stretch>
              <a:fillRect/>
            </a:stretch>
          </p:blipFill>
          <p:spPr>
            <a:xfrm>
              <a:off x="336449" y="3250074"/>
              <a:ext cx="1508186" cy="357851"/>
            </a:xfrm>
            <a:prstGeom prst="rect">
              <a:avLst/>
            </a:prstGeom>
          </p:spPr>
        </p:pic>
      </p:grpSp>
      <p:sp>
        <p:nvSpPr>
          <p:cNvPr id="40" name="矩形 39"/>
          <p:cNvSpPr/>
          <p:nvPr/>
        </p:nvSpPr>
        <p:spPr>
          <a:xfrm>
            <a:off x="124691" y="4324599"/>
            <a:ext cx="12067309" cy="2291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p:cNvSpPr txBox="1"/>
          <p:nvPr>
            <p:custDataLst>
              <p:tags r:id="rId11"/>
            </p:custDataLst>
          </p:nvPr>
        </p:nvSpPr>
        <p:spPr>
          <a:xfrm>
            <a:off x="3449003" y="692150"/>
            <a:ext cx="5234940" cy="338554"/>
          </a:xfrm>
          <a:prstGeom prst="rect">
            <a:avLst/>
          </a:prstGeom>
          <a:noFill/>
        </p:spPr>
        <p:txBody>
          <a:bodyPr wrap="square" rtlCol="0">
            <a:spAutoFit/>
          </a:bodyPr>
          <a:lstStyle/>
          <a:p>
            <a:pPr algn="ctr">
              <a:defRPr/>
            </a:pPr>
            <a:r>
              <a:rPr lang="en-US" altLang="zh-CN" sz="1600" kern="0" dirty="0">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600" kern="0" dirty="0">
                <a:latin typeface="微软雅黑" panose="020B0503020204020204" charset="-122"/>
                <a:ea typeface="微软雅黑" panose="020B0503020204020204" charset="-122"/>
                <a:cs typeface="微软雅黑" panose="020B0503020204020204" charset="-122"/>
                <a:sym typeface="微软雅黑" panose="020B0503020204020204" charset="-122"/>
              </a:rPr>
              <a:t>上市期间核心策略举措</a:t>
            </a:r>
            <a:r>
              <a:rPr lang="en-US" altLang="zh-CN" sz="1600" kern="0" dirty="0">
                <a:latin typeface="微软雅黑" panose="020B0503020204020204" charset="-122"/>
                <a:ea typeface="微软雅黑" panose="020B0503020204020204" charset="-122"/>
                <a:cs typeface="微软雅黑" panose="020B0503020204020204" charset="-122"/>
                <a:sym typeface="微软雅黑" panose="020B0503020204020204" charset="-122"/>
              </a:rPr>
              <a:t>1/</a:t>
            </a:r>
            <a:endParaRPr lang="en-US" altLang="zh-CN" sz="1600" kern="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文本框 4"/>
          <p:cNvSpPr txBox="1"/>
          <p:nvPr/>
        </p:nvSpPr>
        <p:spPr>
          <a:xfrm>
            <a:off x="307340" y="1136015"/>
            <a:ext cx="11518265" cy="467995"/>
          </a:xfrm>
          <a:prstGeom prst="rect">
            <a:avLst/>
          </a:prstGeom>
          <a:solidFill>
            <a:srgbClr val="15439F"/>
          </a:solidFill>
        </p:spPr>
        <p:txBody>
          <a:bodyPr wrap="square" rtlCol="0" anchor="ctr" anchorCtr="0">
            <a:noAutofit/>
          </a:bodyPr>
          <a:lstStyle/>
          <a:p>
            <a:pPr algn="ctr"/>
            <a:r>
              <a:rPr lang="zh-CN" altLang="en-US" sz="2000" b="1" dirty="0">
                <a:solidFill>
                  <a:srgbClr val="FFFF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数量上丨</a:t>
            </a:r>
            <a:r>
              <a:rPr lang="en-US" altLang="zh-CN" sz="2000" b="1" dirty="0">
                <a:solidFill>
                  <a:srgbClr val="FFFF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通过补强包强化评论及优化舆情分级的形式实现更大规模的平台覆盖及更稳的评论占位</a:t>
            </a:r>
            <a:endPar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0" name="矩形 49"/>
          <p:cNvSpPr/>
          <p:nvPr/>
        </p:nvSpPr>
        <p:spPr>
          <a:xfrm>
            <a:off x="307340" y="1693387"/>
            <a:ext cx="5553133" cy="3924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effectLst>
                  <a:outerShdw blurRad="38100" dist="38100" dir="2700000" algn="tl">
                    <a:srgbClr val="000000">
                      <a:alpha val="43137"/>
                    </a:srgbClr>
                  </a:outerShdw>
                </a:effectLst>
                <a:latin typeface="微软雅黑" panose="020B0503020204020204" charset="-122"/>
                <a:ea typeface="微软雅黑" panose="020B0503020204020204" charset="-122"/>
              </a:rPr>
              <a:t>动作</a:t>
            </a:r>
            <a:r>
              <a:rPr lang="en-US" altLang="zh-CN" sz="1600" b="1" dirty="0">
                <a:effectLst>
                  <a:outerShdw blurRad="38100" dist="38100" dir="2700000" algn="tl">
                    <a:srgbClr val="000000">
                      <a:alpha val="43137"/>
                    </a:srgbClr>
                  </a:outerShdw>
                </a:effectLst>
                <a:latin typeface="微软雅黑" panose="020B0503020204020204" charset="-122"/>
                <a:ea typeface="微软雅黑" panose="020B0503020204020204" charset="-122"/>
              </a:rPr>
              <a:t>1</a:t>
            </a:r>
            <a:r>
              <a:rPr lang="zh-CN" altLang="en-US" sz="1600" b="1" dirty="0">
                <a:effectLst>
                  <a:outerShdw blurRad="38100" dist="38100" dir="2700000" algn="tl">
                    <a:srgbClr val="000000">
                      <a:alpha val="43137"/>
                    </a:srgbClr>
                  </a:outerShdw>
                </a:effectLst>
                <a:latin typeface="微软雅黑" panose="020B0503020204020204" charset="-122"/>
                <a:ea typeface="微软雅黑" panose="020B0503020204020204" charset="-122"/>
              </a:rPr>
              <a:t>：九大核心平台评论区前排占领</a:t>
            </a:r>
            <a:endParaRPr lang="zh-CN" altLang="en-US" sz="16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8" name="矩形 7"/>
          <p:cNvSpPr/>
          <p:nvPr/>
        </p:nvSpPr>
        <p:spPr>
          <a:xfrm>
            <a:off x="6272472" y="1690378"/>
            <a:ext cx="5553133" cy="390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effectLst>
                  <a:outerShdw blurRad="38100" dist="38100" dir="2700000" algn="tl">
                    <a:srgbClr val="000000">
                      <a:alpha val="43137"/>
                    </a:srgbClr>
                  </a:outerShdw>
                </a:effectLst>
                <a:latin typeface="微软雅黑" panose="020B0503020204020204" charset="-122"/>
                <a:ea typeface="微软雅黑" panose="020B0503020204020204" charset="-122"/>
              </a:rPr>
              <a:t>动作</a:t>
            </a:r>
            <a:r>
              <a:rPr lang="en-US" altLang="zh-CN" sz="1600" b="1" dirty="0">
                <a:effectLst>
                  <a:outerShdw blurRad="38100" dist="38100" dir="2700000" algn="tl">
                    <a:srgbClr val="000000">
                      <a:alpha val="43137"/>
                    </a:srgbClr>
                  </a:outerShdw>
                </a:effectLst>
                <a:latin typeface="微软雅黑" panose="020B0503020204020204" charset="-122"/>
                <a:ea typeface="微软雅黑" panose="020B0503020204020204" charset="-122"/>
              </a:rPr>
              <a:t>2</a:t>
            </a:r>
            <a:r>
              <a:rPr lang="zh-CN" altLang="en-US" sz="1600" b="1" dirty="0">
                <a:effectLst>
                  <a:outerShdw blurRad="38100" dist="38100" dir="2700000" algn="tl">
                    <a:srgbClr val="000000">
                      <a:alpha val="43137"/>
                    </a:srgbClr>
                  </a:outerShdw>
                </a:effectLst>
                <a:latin typeface="微软雅黑" panose="020B0503020204020204" charset="-122"/>
                <a:ea typeface="微软雅黑" panose="020B0503020204020204" charset="-122"/>
              </a:rPr>
              <a:t>：对于无法降沉的负面评论采取楼中楼对攻</a:t>
            </a:r>
            <a:endParaRPr lang="zh-CN" altLang="en-US" sz="16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6" name="组合 5"/>
          <p:cNvGrpSpPr/>
          <p:nvPr/>
        </p:nvGrpSpPr>
        <p:grpSpPr>
          <a:xfrm>
            <a:off x="620039" y="3447643"/>
            <a:ext cx="5144712" cy="521151"/>
            <a:chOff x="157480" y="5637530"/>
            <a:chExt cx="5342890" cy="541020"/>
          </a:xfrm>
        </p:grpSpPr>
        <p:sp>
          <p:nvSpPr>
            <p:cNvPr id="10" name="圆角矩形 9"/>
            <p:cNvSpPr/>
            <p:nvPr/>
          </p:nvSpPr>
          <p:spPr>
            <a:xfrm>
              <a:off x="157480" y="5637530"/>
              <a:ext cx="5342890" cy="541020"/>
            </a:xfrm>
            <a:prstGeom prst="round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9" name="组合 18"/>
            <p:cNvGrpSpPr/>
            <p:nvPr/>
          </p:nvGrpSpPr>
          <p:grpSpPr>
            <a:xfrm>
              <a:off x="297180" y="5700395"/>
              <a:ext cx="5010785" cy="393700"/>
              <a:chOff x="468" y="8977"/>
              <a:chExt cx="7891" cy="620"/>
            </a:xfrm>
          </p:grpSpPr>
          <p:pic>
            <p:nvPicPr>
              <p:cNvPr id="38" name="图片 37"/>
              <p:cNvPicPr>
                <a:picLocks noChangeAspect="1"/>
              </p:cNvPicPr>
              <p:nvPr/>
            </p:nvPicPr>
            <p:blipFill>
              <a:blip r:embed="rId12"/>
              <a:srcRect l="13711" r="13711"/>
              <a:stretch>
                <a:fillRect/>
              </a:stretch>
            </p:blipFill>
            <p:spPr>
              <a:xfrm>
                <a:off x="4105" y="8978"/>
                <a:ext cx="616" cy="617"/>
              </a:xfrm>
              <a:prstGeom prst="ellipse">
                <a:avLst/>
              </a:prstGeom>
              <a:ln>
                <a:noFill/>
              </a:ln>
              <a:effectLst>
                <a:outerShdw blurRad="50800" dist="38100" dir="2700000" algn="tl" rotWithShape="0">
                  <a:prstClr val="black">
                    <a:alpha val="40000"/>
                  </a:prstClr>
                </a:outerShdw>
              </a:effectLst>
            </p:spPr>
          </p:pic>
          <p:pic>
            <p:nvPicPr>
              <p:cNvPr id="39" name="图片 38"/>
              <p:cNvPicPr>
                <a:picLocks noChangeAspect="1"/>
              </p:cNvPicPr>
              <p:nvPr/>
            </p:nvPicPr>
            <p:blipFill>
              <a:blip r:embed="rId13"/>
              <a:stretch>
                <a:fillRect/>
              </a:stretch>
            </p:blipFill>
            <p:spPr>
              <a:xfrm>
                <a:off x="5014" y="8977"/>
                <a:ext cx="618" cy="620"/>
              </a:xfrm>
              <a:prstGeom prst="ellipse">
                <a:avLst/>
              </a:prstGeom>
              <a:ln>
                <a:noFill/>
              </a:ln>
              <a:effectLst>
                <a:outerShdw blurRad="50800" dist="38100" dir="2700000" algn="tl" rotWithShape="0">
                  <a:prstClr val="black">
                    <a:alpha val="40000"/>
                  </a:prstClr>
                </a:outerShdw>
              </a:effectLst>
            </p:spPr>
          </p:pic>
          <p:pic>
            <p:nvPicPr>
              <p:cNvPr id="17" name="图片 16"/>
              <p:cNvPicPr/>
              <p:nvPr/>
            </p:nvPicPr>
            <p:blipFill>
              <a:blip r:embed="rId14"/>
              <a:srcRect t="6198" b="9037"/>
              <a:stretch>
                <a:fillRect/>
              </a:stretch>
            </p:blipFill>
            <p:spPr>
              <a:xfrm>
                <a:off x="5925" y="8978"/>
                <a:ext cx="617" cy="617"/>
              </a:xfrm>
              <a:prstGeom prst="ellipse">
                <a:avLst/>
              </a:prstGeom>
              <a:ln>
                <a:noFill/>
              </a:ln>
              <a:effectLst>
                <a:outerShdw blurRad="50800" dist="38100" dir="2700000" algn="tl" rotWithShape="0">
                  <a:prstClr val="black">
                    <a:alpha val="40000"/>
                  </a:prstClr>
                </a:outerShdw>
              </a:effectLst>
            </p:spPr>
          </p:pic>
          <p:pic>
            <p:nvPicPr>
              <p:cNvPr id="89" name="图片 88"/>
              <p:cNvPicPr/>
              <p:nvPr>
                <p:custDataLst>
                  <p:tags r:id="rId15"/>
                </p:custDataLst>
              </p:nvPr>
            </p:nvPicPr>
            <p:blipFill>
              <a:blip r:embed="rId16"/>
              <a:stretch>
                <a:fillRect/>
              </a:stretch>
            </p:blipFill>
            <p:spPr>
              <a:xfrm>
                <a:off x="1379" y="8978"/>
                <a:ext cx="617" cy="618"/>
              </a:xfrm>
              <a:prstGeom prst="ellipse">
                <a:avLst/>
              </a:prstGeom>
              <a:noFill/>
              <a:ln w="9525">
                <a:noFill/>
              </a:ln>
              <a:effectLst>
                <a:outerShdw blurRad="50800" dist="38100" dir="2700000" algn="tl" rotWithShape="0">
                  <a:prstClr val="black">
                    <a:alpha val="40000"/>
                  </a:prstClr>
                </a:outerShdw>
              </a:effectLst>
            </p:spPr>
          </p:pic>
          <p:pic>
            <p:nvPicPr>
              <p:cNvPr id="37" name="图片 36"/>
              <p:cNvPicPr preferRelativeResize="0">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468" y="8978"/>
                <a:ext cx="618" cy="618"/>
              </a:xfrm>
              <a:prstGeom prst="ellipse">
                <a:avLst/>
              </a:prstGeom>
              <a:effectLst>
                <a:outerShdw blurRad="50800" dist="38100" dir="2700000" algn="tl" rotWithShape="0">
                  <a:prstClr val="black">
                    <a:alpha val="40000"/>
                  </a:prstClr>
                </a:outerShdw>
              </a:effectLst>
            </p:spPr>
          </p:pic>
          <p:pic>
            <p:nvPicPr>
              <p:cNvPr id="12" name="图片 11"/>
              <p:cNvPicPr/>
              <p:nvPr/>
            </p:nvPicPr>
            <p:blipFill>
              <a:blip r:embed="rId19"/>
              <a:srcRect l="-155" t="3605" r="155" b="1309"/>
              <a:stretch>
                <a:fillRect/>
              </a:stretch>
            </p:blipFill>
            <p:spPr>
              <a:xfrm>
                <a:off x="2289" y="8978"/>
                <a:ext cx="621" cy="618"/>
              </a:xfrm>
              <a:prstGeom prst="ellipse">
                <a:avLst/>
              </a:prstGeom>
              <a:effectLst>
                <a:outerShdw blurRad="50800" dist="38100" dir="2700000" algn="tl" rotWithShape="0">
                  <a:prstClr val="black">
                    <a:alpha val="40000"/>
                  </a:prstClr>
                </a:outerShdw>
              </a:effectLst>
            </p:spPr>
          </p:pic>
          <p:pic>
            <p:nvPicPr>
              <p:cNvPr id="13" name="图片 12"/>
              <p:cNvPicPr/>
              <p:nvPr/>
            </p:nvPicPr>
            <p:blipFill>
              <a:blip r:embed="rId20"/>
              <a:srcRect l="14222" t="13289" r="13133" b="13378"/>
              <a:stretch>
                <a:fillRect/>
              </a:stretch>
            </p:blipFill>
            <p:spPr>
              <a:xfrm>
                <a:off x="3203" y="8978"/>
                <a:ext cx="609" cy="618"/>
              </a:xfrm>
              <a:prstGeom prst="ellipse">
                <a:avLst/>
              </a:prstGeom>
              <a:effectLst>
                <a:outerShdw blurRad="50800" dist="38100" dir="2700000" algn="tl" rotWithShape="0">
                  <a:prstClr val="black">
                    <a:alpha val="40000"/>
                  </a:prstClr>
                </a:outerShdw>
              </a:effectLst>
            </p:spPr>
          </p:pic>
          <p:pic>
            <p:nvPicPr>
              <p:cNvPr id="14" name="图片 13"/>
              <p:cNvPicPr/>
              <p:nvPr/>
            </p:nvPicPr>
            <p:blipFill>
              <a:blip r:embed="rId21"/>
              <a:srcRect t="7827" b="9926"/>
              <a:stretch>
                <a:fillRect/>
              </a:stretch>
            </p:blipFill>
            <p:spPr>
              <a:xfrm>
                <a:off x="6835" y="8978"/>
                <a:ext cx="617" cy="617"/>
              </a:xfrm>
              <a:prstGeom prst="ellipse">
                <a:avLst/>
              </a:prstGeom>
              <a:effectLst>
                <a:outerShdw blurRad="50800" dist="38100" dir="2700000" algn="tl" rotWithShape="0">
                  <a:prstClr val="black">
                    <a:alpha val="40000"/>
                  </a:prstClr>
                </a:outerShdw>
              </a:effectLst>
            </p:spPr>
          </p:pic>
          <p:pic>
            <p:nvPicPr>
              <p:cNvPr id="16" name="图片 15"/>
              <p:cNvPicPr/>
              <p:nvPr/>
            </p:nvPicPr>
            <p:blipFill>
              <a:blip r:embed="rId22"/>
              <a:stretch>
                <a:fillRect/>
              </a:stretch>
            </p:blipFill>
            <p:spPr>
              <a:xfrm>
                <a:off x="7745" y="8978"/>
                <a:ext cx="614" cy="617"/>
              </a:xfrm>
              <a:prstGeom prst="ellipse">
                <a:avLst/>
              </a:prstGeom>
              <a:effectLst>
                <a:outerShdw blurRad="50800" dist="38100" dir="2700000" algn="tl" rotWithShape="0">
                  <a:prstClr val="black">
                    <a:alpha val="40000"/>
                  </a:prstClr>
                </a:outerShdw>
              </a:effectLst>
            </p:spPr>
          </p:pic>
        </p:grpSp>
      </p:grpSp>
      <p:sp>
        <p:nvSpPr>
          <p:cNvPr id="15" name="文本框 14"/>
          <p:cNvSpPr txBox="1"/>
          <p:nvPr/>
        </p:nvSpPr>
        <p:spPr>
          <a:xfrm>
            <a:off x="336868" y="4524433"/>
            <a:ext cx="11518264" cy="399309"/>
          </a:xfrm>
          <a:prstGeom prst="rect">
            <a:avLst/>
          </a:prstGeom>
          <a:solidFill>
            <a:schemeClr val="tx1"/>
          </a:solidFill>
        </p:spPr>
        <p:txBody>
          <a:bodyPr wrap="square" rtlCol="0" anchor="ctr" anchorCtr="0">
            <a:noAutofit/>
          </a:bodyPr>
          <a:lstStyle/>
          <a:p>
            <a:pPr algn="ctr"/>
            <a:r>
              <a:rPr lang="zh-CN" altLang="en-US"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动作</a:t>
            </a:r>
            <a:r>
              <a:rPr lang="en-US" altLang="zh-CN"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3</a:t>
            </a:r>
            <a:r>
              <a:rPr lang="zh-CN" altLang="en-US"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：对传播及舆情内容进行严格分级，摒弃一刀切式维护，全面提升资源运用效率</a:t>
            </a:r>
            <a:endParaRPr lang="zh-CN" altLang="en-US"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graphicFrame>
        <p:nvGraphicFramePr>
          <p:cNvPr id="18" name="表格 17"/>
          <p:cNvGraphicFramePr>
            <a:graphicFrameLocks noGrp="1"/>
          </p:cNvGraphicFramePr>
          <p:nvPr>
            <p:custDataLst>
              <p:tags r:id="rId23"/>
            </p:custDataLst>
          </p:nvPr>
        </p:nvGraphicFramePr>
        <p:xfrm>
          <a:off x="1714645" y="4968366"/>
          <a:ext cx="10110960" cy="1716598"/>
        </p:xfrm>
        <a:graphic>
          <a:graphicData uri="http://schemas.openxmlformats.org/drawingml/2006/table">
            <a:tbl>
              <a:tblPr>
                <a:tableStyleId>{5C22544A-7EE6-4342-B048-85BDC9FD1C3A}</a:tableStyleId>
              </a:tblPr>
              <a:tblGrid>
                <a:gridCol w="2527740"/>
                <a:gridCol w="2527740"/>
                <a:gridCol w="2527740"/>
                <a:gridCol w="2527740"/>
              </a:tblGrid>
              <a:tr h="344425">
                <a:tc>
                  <a:txBody>
                    <a:bodyPr/>
                    <a:lstStyle/>
                    <a:p>
                      <a:pPr algn="ctr" fontAlgn="ctr">
                        <a:buNone/>
                      </a:pPr>
                      <a:r>
                        <a:rPr lang="zh-CN" altLang="en-US" sz="1400" b="1" u="none" strike="noStrike" dirty="0">
                          <a:solidFill>
                            <a:schemeClr val="bg1"/>
                          </a:solidFill>
                          <a:effectLst>
                            <a:outerShdw blurRad="38100" dist="38100" dir="2700000" algn="tl">
                              <a:srgbClr val="000000">
                                <a:alpha val="43137"/>
                              </a:srgbClr>
                            </a:outerShdw>
                          </a:effectLst>
                        </a:rPr>
                        <a:t>普通内容</a:t>
                      </a:r>
                      <a:endParaRPr lang="zh-CN" altLang="en-US" sz="1400" b="1" i="0" u="none" strike="noStrike"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1">
                        <a:lumMod val="40000"/>
                        <a:lumOff val="60000"/>
                      </a:schemeClr>
                    </a:solidFill>
                  </a:tcPr>
                </a:tc>
                <a:tc>
                  <a:txBody>
                    <a:bodyPr/>
                    <a:lstStyle/>
                    <a:p>
                      <a:pPr algn="ctr" fontAlgn="ctr">
                        <a:buNone/>
                      </a:pPr>
                      <a:r>
                        <a:rPr lang="zh-CN" altLang="en-US" sz="1400" b="1" u="none" strike="noStrike" dirty="0">
                          <a:solidFill>
                            <a:schemeClr val="bg1"/>
                          </a:solidFill>
                          <a:effectLst>
                            <a:outerShdw blurRad="38100" dist="38100" dir="2700000" algn="tl">
                              <a:srgbClr val="000000">
                                <a:alpha val="43137"/>
                              </a:srgbClr>
                            </a:outerShdw>
                          </a:effectLst>
                        </a:rPr>
                        <a:t>用户发声内容</a:t>
                      </a:r>
                      <a:endParaRPr lang="zh-CN" altLang="en-US" sz="1400" b="1" i="0" u="none" strike="noStrike"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1">
                        <a:lumMod val="40000"/>
                        <a:lumOff val="60000"/>
                      </a:schemeClr>
                    </a:solidFill>
                  </a:tcPr>
                </a:tc>
                <a:tc>
                  <a:txBody>
                    <a:bodyPr/>
                    <a:lstStyle/>
                    <a:p>
                      <a:pPr algn="ctr" fontAlgn="ctr">
                        <a:buNone/>
                      </a:pPr>
                      <a:r>
                        <a:rPr lang="en-US" sz="1400" b="1" u="none" strike="noStrike" dirty="0">
                          <a:solidFill>
                            <a:schemeClr val="bg1"/>
                          </a:solidFill>
                          <a:effectLst>
                            <a:outerShdw blurRad="38100" dist="38100" dir="2700000" algn="tl">
                              <a:srgbClr val="000000">
                                <a:alpha val="43137"/>
                              </a:srgbClr>
                            </a:outerShdw>
                          </a:effectLst>
                        </a:rPr>
                        <a:t>KOL</a:t>
                      </a:r>
                      <a:r>
                        <a:rPr lang="zh-CN" altLang="en-US" sz="1400" b="1" u="none" strike="noStrike" dirty="0">
                          <a:solidFill>
                            <a:schemeClr val="bg1"/>
                          </a:solidFill>
                          <a:effectLst>
                            <a:outerShdw blurRad="38100" dist="38100" dir="2700000" algn="tl">
                              <a:srgbClr val="000000">
                                <a:alpha val="43137"/>
                              </a:srgbClr>
                            </a:outerShdw>
                          </a:effectLst>
                        </a:rPr>
                        <a:t>扩散内容</a:t>
                      </a:r>
                      <a:endParaRPr lang="zh-CN" altLang="en-US" sz="1400" b="1" i="0" u="none" strike="noStrike"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1">
                        <a:lumMod val="40000"/>
                        <a:lumOff val="60000"/>
                      </a:schemeClr>
                    </a:solidFill>
                  </a:tcPr>
                </a:tc>
                <a:tc>
                  <a:txBody>
                    <a:bodyPr/>
                    <a:lstStyle/>
                    <a:p>
                      <a:pPr algn="ctr" fontAlgn="ctr">
                        <a:buNone/>
                      </a:pPr>
                      <a:r>
                        <a:rPr lang="zh-CN" altLang="en-US" sz="1400" b="1" u="none" strike="noStrike" dirty="0">
                          <a:solidFill>
                            <a:schemeClr val="bg1"/>
                          </a:solidFill>
                          <a:effectLst>
                            <a:outerShdw blurRad="38100" dist="38100" dir="2700000" algn="tl">
                              <a:srgbClr val="000000">
                                <a:alpha val="43137"/>
                              </a:srgbClr>
                            </a:outerShdw>
                          </a:effectLst>
                        </a:rPr>
                        <a:t>权威平台内容</a:t>
                      </a:r>
                      <a:endParaRPr lang="zh-CN" altLang="en-US" sz="1400" b="1" i="0" u="none" strike="noStrike"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1">
                        <a:lumMod val="40000"/>
                        <a:lumOff val="60000"/>
                      </a:schemeClr>
                    </a:solidFill>
                  </a:tcPr>
                </a:tc>
              </a:tr>
              <a:tr h="294175">
                <a:tc>
                  <a:txBody>
                    <a:bodyPr/>
                    <a:lstStyle/>
                    <a:p>
                      <a:pPr algn="ctr" fontAlgn="ctr">
                        <a:buNone/>
                      </a:pPr>
                      <a:r>
                        <a:rPr lang="zh-CN" altLang="en-US" sz="1000" u="none" strike="noStrike">
                          <a:effectLst/>
                        </a:rPr>
                        <a:t>无自然流量、低互动 </a:t>
                      </a:r>
                      <a:r>
                        <a:rPr lang="en-US" altLang="zh-CN" sz="1000" u="none" strike="noStrike">
                          <a:effectLst/>
                        </a:rPr>
                        <a:t>(</a:t>
                      </a:r>
                      <a:r>
                        <a:rPr lang="zh-CN" altLang="en-US" sz="1000" u="none" strike="noStrike">
                          <a:effectLst/>
                        </a:rPr>
                        <a:t>阅读＜</a:t>
                      </a:r>
                      <a:r>
                        <a:rPr lang="en-US" altLang="zh-CN" sz="1000" u="none" strike="noStrike">
                          <a:effectLst/>
                        </a:rPr>
                        <a:t>1</a:t>
                      </a:r>
                      <a:r>
                        <a:rPr lang="en-US" sz="1000" u="none" strike="noStrike">
                          <a:effectLst/>
                        </a:rPr>
                        <a:t>k) </a:t>
                      </a:r>
                      <a:endParaRPr lang="en-US" sz="1000" b="0"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fontAlgn="ctr">
                        <a:buNone/>
                      </a:pPr>
                      <a:r>
                        <a:rPr lang="zh-CN" altLang="en-US" sz="1000" u="none" strike="noStrike">
                          <a:effectLst/>
                        </a:rPr>
                        <a:t>用户</a:t>
                      </a:r>
                      <a:r>
                        <a:rPr lang="en-US" sz="1000" u="none" strike="noStrike">
                          <a:effectLst/>
                        </a:rPr>
                        <a:t>UGC、</a:t>
                      </a:r>
                      <a:r>
                        <a:rPr lang="zh-CN" altLang="en-US" sz="1000" u="none" strike="noStrike">
                          <a:effectLst/>
                        </a:rPr>
                        <a:t>自然流量 </a:t>
                      </a:r>
                      <a:r>
                        <a:rPr lang="en-US" altLang="zh-CN" sz="1000" u="none" strike="noStrike">
                          <a:effectLst/>
                        </a:rPr>
                        <a:t>(</a:t>
                      </a:r>
                      <a:r>
                        <a:rPr lang="zh-CN" altLang="en-US" sz="1000" u="none" strike="noStrike">
                          <a:effectLst/>
                        </a:rPr>
                        <a:t>阅读</a:t>
                      </a:r>
                      <a:r>
                        <a:rPr lang="en-US" altLang="zh-CN" sz="1000" u="none" strike="noStrike">
                          <a:effectLst/>
                        </a:rPr>
                        <a:t>1</a:t>
                      </a:r>
                      <a:r>
                        <a:rPr lang="en-US" sz="1000" u="none" strike="noStrike">
                          <a:effectLst/>
                        </a:rPr>
                        <a:t>k-10W) </a:t>
                      </a:r>
                      <a:endParaRPr lang="en-US" sz="1000" b="0"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fontAlgn="ctr">
                        <a:buNone/>
                      </a:pPr>
                      <a:r>
                        <a:rPr lang="zh-CN" altLang="en-US" sz="1000" u="none" strike="noStrike">
                          <a:effectLst/>
                        </a:rPr>
                        <a:t>认证</a:t>
                      </a:r>
                      <a:r>
                        <a:rPr lang="en-US" sz="1000" u="none" strike="noStrike">
                          <a:effectLst/>
                        </a:rPr>
                        <a:t>KOL</a:t>
                      </a:r>
                      <a:r>
                        <a:rPr lang="zh-CN" altLang="en-US" sz="1000" u="none" strike="noStrike">
                          <a:effectLst/>
                        </a:rPr>
                        <a:t>发布、中高传播 </a:t>
                      </a:r>
                      <a:r>
                        <a:rPr lang="en-US" altLang="zh-CN" sz="1000" u="none" strike="noStrike">
                          <a:effectLst/>
                        </a:rPr>
                        <a:t>(</a:t>
                      </a:r>
                      <a:r>
                        <a:rPr lang="zh-CN" altLang="en-US" sz="1000" u="none" strike="noStrike">
                          <a:effectLst/>
                        </a:rPr>
                        <a:t>阅读</a:t>
                      </a:r>
                      <a:r>
                        <a:rPr lang="en-US" altLang="zh-CN" sz="1000" u="none" strike="noStrike">
                          <a:effectLst/>
                        </a:rPr>
                        <a:t>&gt;10</a:t>
                      </a:r>
                      <a:r>
                        <a:rPr lang="en-US" sz="1000" u="none" strike="noStrike">
                          <a:effectLst/>
                        </a:rPr>
                        <a:t>w) </a:t>
                      </a:r>
                      <a:endParaRPr lang="en-US" sz="1000" b="0"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fontAlgn="ctr">
                        <a:buNone/>
                      </a:pPr>
                      <a:r>
                        <a:rPr lang="zh-CN" altLang="en-US" sz="1000" u="none" strike="noStrike">
                          <a:effectLst/>
                        </a:rPr>
                        <a:t>央视</a:t>
                      </a:r>
                      <a:r>
                        <a:rPr lang="en-US" altLang="zh-CN" sz="1000" u="none" strike="noStrike">
                          <a:effectLst/>
                        </a:rPr>
                        <a:t>/</a:t>
                      </a:r>
                      <a:r>
                        <a:rPr lang="zh-CN" altLang="en-US" sz="1000" u="none" strike="noStrike">
                          <a:effectLst/>
                        </a:rPr>
                        <a:t>懂车帝等头部媒体发布</a:t>
                      </a:r>
                      <a:endParaRPr lang="zh-CN" altLang="en-US" sz="10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r>
              <a:tr h="269269">
                <a:tc>
                  <a:txBody>
                    <a:bodyPr/>
                    <a:lstStyle/>
                    <a:p>
                      <a:pPr algn="ctr" fontAlgn="ctr">
                        <a:buNone/>
                      </a:pPr>
                      <a:r>
                        <a:rPr lang="en-US" altLang="zh-CN" sz="1000" u="none" strike="noStrike">
                          <a:effectLst/>
                        </a:rPr>
                        <a:t>5-10</a:t>
                      </a:r>
                      <a:r>
                        <a:rPr lang="zh-CN" altLang="en-US" sz="1000" u="none" strike="noStrike">
                          <a:effectLst/>
                        </a:rPr>
                        <a:t>条 </a:t>
                      </a:r>
                      <a:r>
                        <a:rPr lang="en-US" altLang="zh-CN" sz="1000" u="none" strike="noStrike">
                          <a:effectLst/>
                        </a:rPr>
                        <a:t>(45%) </a:t>
                      </a:r>
                      <a:endParaRPr lang="en-US" altLang="zh-CN" sz="1000" b="0"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6">
                        <a:lumMod val="20000"/>
                        <a:lumOff val="80000"/>
                      </a:schemeClr>
                    </a:solidFill>
                  </a:tcPr>
                </a:tc>
                <a:tc>
                  <a:txBody>
                    <a:bodyPr/>
                    <a:lstStyle/>
                    <a:p>
                      <a:pPr algn="ctr" fontAlgn="ctr">
                        <a:buNone/>
                      </a:pPr>
                      <a:r>
                        <a:rPr lang="en-US" altLang="zh-CN" sz="1000" u="none" strike="noStrike" dirty="0">
                          <a:effectLst/>
                        </a:rPr>
                        <a:t>50-100</a:t>
                      </a:r>
                      <a:r>
                        <a:rPr lang="zh-CN" altLang="en-US" sz="1000" u="none" strike="noStrike" dirty="0">
                          <a:effectLst/>
                        </a:rPr>
                        <a:t>条 </a:t>
                      </a:r>
                      <a:r>
                        <a:rPr lang="en-US" altLang="zh-CN" sz="1000" u="none" strike="noStrike" dirty="0">
                          <a:effectLst/>
                        </a:rPr>
                        <a:t>(35%) </a:t>
                      </a:r>
                      <a:endParaRPr lang="en-US" altLang="zh-CN" sz="1000" b="0" i="0" u="none" strike="noStrike" dirty="0">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6">
                        <a:lumMod val="20000"/>
                        <a:lumOff val="80000"/>
                      </a:schemeClr>
                    </a:solidFill>
                  </a:tcPr>
                </a:tc>
                <a:tc>
                  <a:txBody>
                    <a:bodyPr/>
                    <a:lstStyle/>
                    <a:p>
                      <a:pPr algn="ctr" fontAlgn="ctr">
                        <a:buNone/>
                      </a:pPr>
                      <a:r>
                        <a:rPr lang="en-US" altLang="zh-CN" sz="1000" u="none" strike="noStrike">
                          <a:effectLst/>
                        </a:rPr>
                        <a:t>100-200</a:t>
                      </a:r>
                      <a:r>
                        <a:rPr lang="zh-CN" altLang="en-US" sz="1000" u="none" strike="noStrike">
                          <a:effectLst/>
                        </a:rPr>
                        <a:t>条 </a:t>
                      </a:r>
                      <a:r>
                        <a:rPr lang="en-US" altLang="zh-CN" sz="1000" u="none" strike="noStrike">
                          <a:effectLst/>
                        </a:rPr>
                        <a:t>(15%) </a:t>
                      </a:r>
                      <a:endParaRPr lang="en-US" altLang="zh-CN" sz="1000" b="0"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6">
                        <a:lumMod val="20000"/>
                        <a:lumOff val="80000"/>
                      </a:schemeClr>
                    </a:solidFill>
                  </a:tcPr>
                </a:tc>
                <a:tc>
                  <a:txBody>
                    <a:bodyPr/>
                    <a:lstStyle/>
                    <a:p>
                      <a:pPr algn="ctr" rtl="0" fontAlgn="ctr">
                        <a:buNone/>
                      </a:pPr>
                      <a:r>
                        <a:rPr lang="en-US" altLang="zh-CN" sz="900" u="none" strike="noStrike">
                          <a:effectLst/>
                        </a:rPr>
                        <a:t>200 ↑</a:t>
                      </a:r>
                      <a:r>
                        <a:rPr lang="zh-CN" altLang="en-US" sz="900" u="none" strike="noStrike">
                          <a:effectLst/>
                        </a:rPr>
                        <a:t>条  </a:t>
                      </a:r>
                      <a:r>
                        <a:rPr lang="en-US" altLang="zh-CN" sz="900" u="none" strike="noStrike">
                          <a:effectLst/>
                        </a:rPr>
                        <a:t>5%</a:t>
                      </a:r>
                      <a:endParaRPr lang="en-US" altLang="zh-CN" sz="9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6">
                        <a:lumMod val="20000"/>
                        <a:lumOff val="80000"/>
                      </a:schemeClr>
                    </a:solidFill>
                  </a:tcPr>
                </a:tc>
              </a:tr>
              <a:tr h="269730">
                <a:tc>
                  <a:txBody>
                    <a:bodyPr/>
                    <a:lstStyle/>
                    <a:p>
                      <a:pPr algn="ctr" fontAlgn="ctr">
                        <a:buNone/>
                      </a:pPr>
                      <a:r>
                        <a:rPr lang="zh-CN" altLang="en-US" sz="1000" b="1" u="none" strike="noStrike">
                          <a:effectLst/>
                        </a:rPr>
                        <a:t>基础声量占位</a:t>
                      </a:r>
                      <a:endParaRPr lang="zh-CN" altLang="en-US" sz="10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fontAlgn="ctr">
                        <a:buNone/>
                      </a:pPr>
                      <a:r>
                        <a:rPr lang="zh-CN" altLang="en-US" sz="1000" b="1" u="none" strike="noStrike">
                          <a:effectLst/>
                        </a:rPr>
                        <a:t>引导讨论方向</a:t>
                      </a:r>
                      <a:endParaRPr lang="zh-CN" altLang="en-US" sz="10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fontAlgn="ctr">
                        <a:buNone/>
                      </a:pPr>
                      <a:r>
                        <a:rPr lang="zh-CN" altLang="en-US" sz="1000" b="1" u="none" strike="noStrike">
                          <a:effectLst/>
                        </a:rPr>
                        <a:t>强化观点渗透</a:t>
                      </a:r>
                      <a:endParaRPr lang="zh-CN" altLang="en-US" sz="10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rtl="0" fontAlgn="ctr">
                        <a:buNone/>
                      </a:pPr>
                      <a:r>
                        <a:rPr lang="zh-CN" altLang="en-US" sz="900" b="1" u="none" strike="noStrike">
                          <a:effectLst/>
                        </a:rPr>
                        <a:t>抢占核心舆论场话语权</a:t>
                      </a:r>
                      <a:endParaRPr lang="zh-CN" altLang="en-US" sz="9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r>
              <a:tr h="269269">
                <a:tc>
                  <a:txBody>
                    <a:bodyPr/>
                    <a:lstStyle/>
                    <a:p>
                      <a:pPr algn="ctr" fontAlgn="ctr">
                        <a:buNone/>
                      </a:pPr>
                      <a:r>
                        <a:rPr lang="en-US" altLang="zh-CN" sz="1000" u="none" strike="noStrike">
                          <a:effectLst/>
                        </a:rPr>
                        <a:t>3-5</a:t>
                      </a:r>
                      <a:r>
                        <a:rPr lang="zh-CN" altLang="en-US" sz="1000" u="none" strike="noStrike">
                          <a:effectLst/>
                        </a:rPr>
                        <a:t>条 </a:t>
                      </a:r>
                      <a:r>
                        <a:rPr lang="en-US" altLang="zh-CN" sz="1000" u="none" strike="noStrike">
                          <a:effectLst/>
                        </a:rPr>
                        <a:t>(30%) </a:t>
                      </a:r>
                      <a:endParaRPr lang="en-US" altLang="zh-CN" sz="1000" b="0"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2">
                        <a:lumMod val="20000"/>
                        <a:lumOff val="80000"/>
                      </a:schemeClr>
                    </a:solidFill>
                  </a:tcPr>
                </a:tc>
                <a:tc>
                  <a:txBody>
                    <a:bodyPr/>
                    <a:lstStyle/>
                    <a:p>
                      <a:pPr algn="ctr" fontAlgn="ctr">
                        <a:buNone/>
                      </a:pPr>
                      <a:r>
                        <a:rPr lang="en-US" altLang="zh-CN" sz="1000" u="none" strike="noStrike">
                          <a:effectLst/>
                        </a:rPr>
                        <a:t>3-10</a:t>
                      </a:r>
                      <a:r>
                        <a:rPr lang="zh-CN" altLang="en-US" sz="1000" u="none" strike="noStrike">
                          <a:effectLst/>
                        </a:rPr>
                        <a:t>条 </a:t>
                      </a:r>
                      <a:r>
                        <a:rPr lang="en-US" altLang="zh-CN" sz="1000" u="none" strike="noStrike">
                          <a:effectLst/>
                        </a:rPr>
                        <a:t>(40%) </a:t>
                      </a:r>
                      <a:endParaRPr lang="en-US" altLang="zh-CN" sz="1000" b="0"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2">
                        <a:lumMod val="20000"/>
                        <a:lumOff val="80000"/>
                      </a:schemeClr>
                    </a:solidFill>
                  </a:tcPr>
                </a:tc>
                <a:tc>
                  <a:txBody>
                    <a:bodyPr/>
                    <a:lstStyle/>
                    <a:p>
                      <a:pPr algn="ctr" fontAlgn="ctr">
                        <a:buNone/>
                      </a:pPr>
                      <a:r>
                        <a:rPr lang="en-US" altLang="zh-CN" sz="1000" u="none" strike="noStrike">
                          <a:effectLst/>
                        </a:rPr>
                        <a:t>10-30</a:t>
                      </a:r>
                      <a:r>
                        <a:rPr lang="zh-CN" altLang="en-US" sz="1000" u="none" strike="noStrike">
                          <a:effectLst/>
                        </a:rPr>
                        <a:t>条 </a:t>
                      </a:r>
                      <a:r>
                        <a:rPr lang="en-US" altLang="zh-CN" sz="1000" u="none" strike="noStrike">
                          <a:effectLst/>
                        </a:rPr>
                        <a:t>(25%) </a:t>
                      </a:r>
                      <a:endParaRPr lang="en-US" altLang="zh-CN" sz="1000" b="0"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2">
                        <a:lumMod val="20000"/>
                        <a:lumOff val="80000"/>
                      </a:schemeClr>
                    </a:solidFill>
                  </a:tcPr>
                </a:tc>
                <a:tc>
                  <a:txBody>
                    <a:bodyPr/>
                    <a:lstStyle/>
                    <a:p>
                      <a:pPr algn="ctr" rtl="0" fontAlgn="ctr">
                        <a:buNone/>
                      </a:pPr>
                      <a:r>
                        <a:rPr lang="en-US" altLang="zh-CN" sz="900" u="none" strike="noStrike">
                          <a:effectLst/>
                        </a:rPr>
                        <a:t>50 ↑</a:t>
                      </a:r>
                      <a:r>
                        <a:rPr lang="zh-CN" altLang="en-US" sz="900" u="none" strike="noStrike">
                          <a:effectLst/>
                        </a:rPr>
                        <a:t>条  </a:t>
                      </a:r>
                      <a:r>
                        <a:rPr lang="en-US" altLang="zh-CN" sz="900" u="none" strike="noStrike">
                          <a:effectLst/>
                        </a:rPr>
                        <a:t>5%</a:t>
                      </a:r>
                      <a:endParaRPr lang="en-US" altLang="zh-CN" sz="9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solidFill>
                      <a:schemeClr val="accent2">
                        <a:lumMod val="20000"/>
                        <a:lumOff val="80000"/>
                      </a:schemeClr>
                    </a:solidFill>
                  </a:tcPr>
                </a:tc>
              </a:tr>
              <a:tr h="269730">
                <a:tc>
                  <a:txBody>
                    <a:bodyPr/>
                    <a:lstStyle/>
                    <a:p>
                      <a:pPr algn="ctr" fontAlgn="ctr">
                        <a:buNone/>
                      </a:pPr>
                      <a:r>
                        <a:rPr lang="zh-CN" altLang="en-US" sz="1000" b="1" u="none" strike="noStrike">
                          <a:effectLst/>
                        </a:rPr>
                        <a:t>正向引导</a:t>
                      </a:r>
                      <a:endParaRPr lang="zh-CN" altLang="en-US" sz="10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fontAlgn="ctr">
                        <a:buNone/>
                      </a:pPr>
                      <a:r>
                        <a:rPr lang="zh-CN" altLang="en-US" sz="1000" b="1" u="none" strike="noStrike" dirty="0">
                          <a:effectLst/>
                        </a:rPr>
                        <a:t>调解误会</a:t>
                      </a:r>
                      <a:r>
                        <a:rPr lang="en-US" altLang="zh-CN" sz="1000" b="1" u="none" strike="noStrike" dirty="0">
                          <a:effectLst/>
                        </a:rPr>
                        <a:t>/</a:t>
                      </a:r>
                      <a:r>
                        <a:rPr lang="zh-CN" altLang="en-US" sz="1000" b="1" u="none" strike="noStrike" dirty="0">
                          <a:effectLst/>
                        </a:rPr>
                        <a:t>引导情绪</a:t>
                      </a:r>
                      <a:endParaRPr lang="zh-CN" altLang="en-US" sz="1000" b="1" i="0" u="none" strike="noStrike" dirty="0">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fontAlgn="ctr">
                        <a:buNone/>
                      </a:pPr>
                      <a:r>
                        <a:rPr lang="zh-CN" altLang="en-US" sz="1000" b="1" u="none" strike="noStrike">
                          <a:effectLst/>
                        </a:rPr>
                        <a:t>正向观点输出</a:t>
                      </a:r>
                      <a:endParaRPr lang="zh-CN" altLang="en-US" sz="1000" b="1" i="0" u="none" strike="noStrike">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c>
                  <a:txBody>
                    <a:bodyPr/>
                    <a:lstStyle/>
                    <a:p>
                      <a:pPr algn="ctr" rtl="0" fontAlgn="ctr">
                        <a:buNone/>
                      </a:pPr>
                      <a:r>
                        <a:rPr lang="zh-CN" altLang="en-US" sz="900" b="1" u="none" strike="noStrike" dirty="0">
                          <a:effectLst/>
                        </a:rPr>
                        <a:t>抢占核心舆论场话语权</a:t>
                      </a:r>
                      <a:endParaRPr lang="zh-CN" altLang="en-US" sz="900" b="1" i="0" u="none" strike="noStrike" dirty="0">
                        <a:solidFill>
                          <a:srgbClr val="000000"/>
                        </a:solidFill>
                        <a:effectLst/>
                        <a:latin typeface="微软雅黑" panose="020B0503020204020204" charset="-122"/>
                        <a:ea typeface="微软雅黑" panose="020B0503020204020204" charset="-122"/>
                      </a:endParaRPr>
                    </a:p>
                  </a:txBody>
                  <a:tcPr marL="8181" marR="8181" marT="8181" marB="0" anchor="ctr">
                    <a:lnL w="12700" cmpd="sng">
                      <a:solidFill>
                        <a:schemeClr val="bg1">
                          <a:lumMod val="95000"/>
                        </a:schemeClr>
                      </a:solidFill>
                      <a:prstDash val="solid"/>
                    </a:lnL>
                    <a:lnR w="12700" cmpd="sng">
                      <a:solidFill>
                        <a:schemeClr val="bg1">
                          <a:lumMod val="95000"/>
                        </a:schemeClr>
                      </a:solidFill>
                      <a:prstDash val="solid"/>
                    </a:lnR>
                    <a:lnT w="12700" cmpd="sng">
                      <a:solidFill>
                        <a:schemeClr val="bg1">
                          <a:lumMod val="95000"/>
                        </a:schemeClr>
                      </a:solidFill>
                      <a:prstDash val="solid"/>
                    </a:lnT>
                    <a:lnB w="12700" cmpd="sng">
                      <a:solidFill>
                        <a:schemeClr val="bg1">
                          <a:lumMod val="95000"/>
                        </a:schemeClr>
                      </a:solidFill>
                      <a:prstDash val="solid"/>
                    </a:lnB>
                    <a:noFill/>
                  </a:tcPr>
                </a:tc>
              </a:tr>
            </a:tbl>
          </a:graphicData>
        </a:graphic>
      </p:graphicFrame>
      <p:grpSp>
        <p:nvGrpSpPr>
          <p:cNvPr id="21" name="组合 20"/>
          <p:cNvGrpSpPr/>
          <p:nvPr/>
        </p:nvGrpSpPr>
        <p:grpSpPr>
          <a:xfrm>
            <a:off x="336868" y="4994270"/>
            <a:ext cx="1340861" cy="1682613"/>
            <a:chOff x="1084" y="7982"/>
            <a:chExt cx="2005" cy="2820"/>
          </a:xfrm>
        </p:grpSpPr>
        <p:sp>
          <p:nvSpPr>
            <p:cNvPr id="23" name="矩形 22"/>
            <p:cNvSpPr/>
            <p:nvPr/>
          </p:nvSpPr>
          <p:spPr>
            <a:xfrm>
              <a:off x="1084" y="8553"/>
              <a:ext cx="2005" cy="397"/>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tx1"/>
                  </a:solidFill>
                  <a:effectLst/>
                </a:rPr>
                <a:t>定义标准</a:t>
              </a:r>
              <a:endParaRPr lang="zh-CN" altLang="en-US" sz="1200" b="1" dirty="0">
                <a:solidFill>
                  <a:schemeClr val="tx1"/>
                </a:solidFill>
                <a:effectLst/>
              </a:endParaRPr>
            </a:p>
          </p:txBody>
        </p:sp>
        <p:sp>
          <p:nvSpPr>
            <p:cNvPr id="28" name="矩形 27"/>
            <p:cNvSpPr/>
            <p:nvPr/>
          </p:nvSpPr>
          <p:spPr>
            <a:xfrm>
              <a:off x="1084" y="9017"/>
              <a:ext cx="2005" cy="396"/>
            </a:xfrm>
            <a:prstGeom prst="rect">
              <a:avLst/>
            </a:prstGeom>
            <a:solidFill>
              <a:schemeClr val="accent6">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b="1" dirty="0">
                  <a:solidFill>
                    <a:schemeClr val="tx1"/>
                  </a:solidFill>
                  <a:effectLst/>
                </a:rPr>
                <a:t>正面内容铺设量</a:t>
              </a:r>
              <a:r>
                <a:rPr lang="zh-CN" altLang="en-US" sz="700" dirty="0">
                  <a:solidFill>
                    <a:schemeClr val="tx1"/>
                  </a:solidFill>
                  <a:effectLst/>
                </a:rPr>
                <a:t>（预估）</a:t>
              </a:r>
              <a:endParaRPr lang="zh-CN" altLang="en-US" sz="1000" dirty="0">
                <a:solidFill>
                  <a:schemeClr val="tx1"/>
                </a:solidFill>
                <a:effectLst/>
              </a:endParaRPr>
            </a:p>
          </p:txBody>
        </p:sp>
        <p:sp>
          <p:nvSpPr>
            <p:cNvPr id="31" name="矩形 30"/>
            <p:cNvSpPr/>
            <p:nvPr/>
          </p:nvSpPr>
          <p:spPr>
            <a:xfrm>
              <a:off x="1084" y="9480"/>
              <a:ext cx="2005" cy="396"/>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tx1"/>
                  </a:solidFill>
                  <a:effectLst/>
                </a:rPr>
                <a:t>目标</a:t>
              </a:r>
              <a:endParaRPr lang="zh-CN" altLang="en-US" sz="1200" b="1" dirty="0">
                <a:solidFill>
                  <a:schemeClr val="tx1"/>
                </a:solidFill>
                <a:effectLst/>
              </a:endParaRPr>
            </a:p>
          </p:txBody>
        </p:sp>
        <p:sp>
          <p:nvSpPr>
            <p:cNvPr id="33" name="矩形 32"/>
            <p:cNvSpPr/>
            <p:nvPr/>
          </p:nvSpPr>
          <p:spPr>
            <a:xfrm>
              <a:off x="1084" y="9943"/>
              <a:ext cx="2005" cy="396"/>
            </a:xfrm>
            <a:prstGeom prst="rect">
              <a:avLst/>
            </a:prstGeom>
            <a:solidFill>
              <a:schemeClr val="accent2">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b="1" dirty="0">
                  <a:solidFill>
                    <a:schemeClr val="tx1"/>
                  </a:solidFill>
                </a:rPr>
                <a:t>舆情</a:t>
              </a:r>
              <a:r>
                <a:rPr lang="zh-CN" altLang="en-US" sz="900" b="1" dirty="0">
                  <a:solidFill>
                    <a:schemeClr val="tx1"/>
                  </a:solidFill>
                  <a:effectLst/>
                </a:rPr>
                <a:t>内容铺设量</a:t>
              </a:r>
              <a:r>
                <a:rPr lang="zh-CN" altLang="en-US" sz="700" dirty="0">
                  <a:solidFill>
                    <a:schemeClr val="tx1"/>
                  </a:solidFill>
                  <a:effectLst/>
                </a:rPr>
                <a:t>（预估）</a:t>
              </a:r>
              <a:endParaRPr lang="zh-CN" altLang="en-US" sz="1000" dirty="0">
                <a:solidFill>
                  <a:schemeClr val="tx1"/>
                </a:solidFill>
                <a:effectLst/>
              </a:endParaRPr>
            </a:p>
          </p:txBody>
        </p:sp>
        <p:sp>
          <p:nvSpPr>
            <p:cNvPr id="34" name="矩形 33"/>
            <p:cNvSpPr/>
            <p:nvPr/>
          </p:nvSpPr>
          <p:spPr>
            <a:xfrm>
              <a:off x="1084" y="10406"/>
              <a:ext cx="2005" cy="396"/>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tx1"/>
                  </a:solidFill>
                  <a:effectLst/>
                </a:rPr>
                <a:t>目标</a:t>
              </a:r>
              <a:endParaRPr lang="zh-CN" altLang="en-US" sz="1200" b="1" dirty="0">
                <a:solidFill>
                  <a:schemeClr val="tx1"/>
                </a:solidFill>
                <a:effectLst/>
              </a:endParaRPr>
            </a:p>
          </p:txBody>
        </p:sp>
        <p:sp>
          <p:nvSpPr>
            <p:cNvPr id="35" name="矩形 34"/>
            <p:cNvSpPr/>
            <p:nvPr/>
          </p:nvSpPr>
          <p:spPr>
            <a:xfrm>
              <a:off x="1084" y="7982"/>
              <a:ext cx="2005" cy="50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tx1"/>
                  </a:solidFill>
                  <a:effectLst/>
                </a:rPr>
                <a:t>内容分类</a:t>
              </a:r>
              <a:endParaRPr lang="zh-CN" altLang="en-US" sz="1200" b="1" dirty="0">
                <a:solidFill>
                  <a:schemeClr val="tx1"/>
                </a:solidFill>
                <a:effectLst/>
              </a:endParaRPr>
            </a:p>
          </p:txBody>
        </p:sp>
      </p:grpSp>
      <p:sp>
        <p:nvSpPr>
          <p:cNvPr id="36" name="文本框 35"/>
          <p:cNvSpPr txBox="1"/>
          <p:nvPr/>
        </p:nvSpPr>
        <p:spPr>
          <a:xfrm>
            <a:off x="307341" y="6644540"/>
            <a:ext cx="11547734" cy="234872"/>
          </a:xfrm>
          <a:prstGeom prst="rect">
            <a:avLst/>
          </a:prstGeom>
          <a:noFill/>
          <a:ln>
            <a:noFill/>
          </a:ln>
        </p:spPr>
        <p:txBody>
          <a:bodyPr wrap="square" rtlCol="0">
            <a:spAutoFit/>
          </a:bodyPr>
          <a:lstStyle/>
          <a:p>
            <a:pPr algn="ctr">
              <a:lnSpc>
                <a:spcPct val="150000"/>
              </a:lnSpc>
            </a:pPr>
            <a:r>
              <a:rPr lang="zh-CN" altLang="en-US" sz="700" b="1" u="sng" dirty="0">
                <a:solidFill>
                  <a:srgbClr val="C00000"/>
                </a:solidFill>
              </a:rPr>
              <a:t>针对高热的负面舆情直接做删帖处理，以防过热</a:t>
            </a:r>
            <a:endParaRPr lang="zh-CN" altLang="en-US" sz="700" b="1" u="sng" dirty="0">
              <a:solidFill>
                <a:srgbClr val="C00000"/>
              </a:solidFill>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 name="KSO_WM_DIAGRAM_VIRTUALLY_FRAME" val="{&quot;height&quot;:767.213031496063,&quot;left&quot;:-0.6606692913385587,&quot;top&quot;:114.3,&quot;width&quot;:991.4076771653542}"/>
</p:tagLst>
</file>

<file path=ppt/tags/tag76.xml><?xml version="1.0" encoding="utf-8"?>
<p:tagLst xmlns:p="http://schemas.openxmlformats.org/presentationml/2006/main">
  <p:tag name="TABLE_ENDDRAG_ORIGIN_RECT" val="748*183"/>
  <p:tag name="TABLE_ENDDRAG_RECT" val="158*356*748*183"/>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2057</Words>
  <Application>WPS 演示</Application>
  <PresentationFormat>宽屏</PresentationFormat>
  <Paragraphs>300</Paragraphs>
  <Slides>8</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宋体</vt:lpstr>
      <vt:lpstr>Wingdings</vt:lpstr>
      <vt:lpstr>Wingdings</vt:lpstr>
      <vt:lpstr>微软雅黑</vt:lpstr>
      <vt:lpstr>MiSans Medium</vt:lpstr>
      <vt:lpstr>Arial Unicode MS</vt:lpstr>
      <vt:lpstr>Calibri</vt:lpstr>
      <vt:lpstr>汉仪雅酷黑 75W</vt:lpstr>
      <vt:lpstr>黑体</vt:lpstr>
      <vt:lpstr>Microsoft JhengHei UI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WPS_562553944</cp:lastModifiedBy>
  <cp:revision>163</cp:revision>
  <dcterms:created xsi:type="dcterms:W3CDTF">2019-06-19T02:08:00Z</dcterms:created>
  <dcterms:modified xsi:type="dcterms:W3CDTF">2026-05-07T05:13:08Z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6D0808CAB0734C6BB9872C963F1AA3F6_11</vt:lpwstr>
  </property>
</Properties>
</file>