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执行规划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箭头: 五边形 1"/>
          <p:cNvSpPr/>
          <p:nvPr/>
        </p:nvSpPr>
        <p:spPr>
          <a:xfrm>
            <a:off x="0" y="631825"/>
            <a:ext cx="7041515" cy="611505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长尾期</a:t>
            </a:r>
            <a:r>
              <a:rPr lang="en-US" altLang="zh-CN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信任闭环，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促使观望者“随大流”下单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3520" y="1365250"/>
            <a:ext cx="50990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spPr>
          <a:xfrm>
            <a:off x="223520" y="1802765"/>
            <a:ext cx="2064385" cy="2248535"/>
          </a:xfrm>
        </p:spPr>
        <p:grpSpPr>
          <a:xfrm>
            <a:off x="223520" y="1802765"/>
            <a:ext cx="2064385" cy="2248535"/>
            <a:chOff x="352" y="2839"/>
            <a:chExt cx="3251" cy="1356"/>
          </a:xfrm>
        </p:grpSpPr>
        <p:sp>
          <p:nvSpPr>
            <p:cNvPr id="12" name="矩形 11"/>
            <p:cNvSpPr/>
            <p:nvPr/>
          </p:nvSpPr>
          <p:spPr>
            <a:xfrm>
              <a:off x="352" y="2839"/>
              <a:ext cx="746" cy="134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热销</a:t>
              </a:r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营造</a:t>
              </a:r>
              <a:endParaRPr lang="zh-CN" altLang="en-US" sz="14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315" y="2839"/>
              <a:ext cx="2288" cy="135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营造热销现象</a:t>
              </a:r>
              <a:b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通过展现线下真实的火爆场面，利用从众心理，证明产品的市场认可度，制造紧迫感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835660" y="1365250"/>
            <a:ext cx="145224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传播策略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spPr>
          <a:xfrm>
            <a:off x="223520" y="4164330"/>
            <a:ext cx="2064385" cy="2306955"/>
          </a:xfrm>
        </p:spPr>
        <p:grpSpPr>
          <a:xfrm>
            <a:off x="223520" y="4164330"/>
            <a:ext cx="2064385" cy="2306955"/>
            <a:chOff x="352" y="4331"/>
            <a:chExt cx="3251" cy="5860"/>
          </a:xfrm>
        </p:grpSpPr>
        <p:sp>
          <p:nvSpPr>
            <p:cNvPr id="24" name="矩形 23"/>
            <p:cNvSpPr/>
            <p:nvPr/>
          </p:nvSpPr>
          <p:spPr>
            <a:xfrm>
              <a:off x="352" y="4331"/>
              <a:ext cx="746" cy="58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口碑带动</a:t>
              </a:r>
              <a:endParaRPr lang="zh-CN" altLang="en-US" sz="14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5" y="4331"/>
              <a:ext cx="2288" cy="5855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沉淀深度口碑</a:t>
              </a:r>
              <a:b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通过典型车主的心路历程和日常用车分享，将产品卖点融入生活故事，建立情感联结与深度信任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2393950" y="1365250"/>
            <a:ext cx="187388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主要方向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spPr>
          <a:xfrm>
            <a:off x="2390140" y="1802765"/>
            <a:ext cx="1872615" cy="2252106"/>
          </a:xfrm>
        </p:spPr>
        <p:grpSpPr>
          <a:xfrm>
            <a:off x="2390140" y="1802765"/>
            <a:ext cx="1872615" cy="2252106"/>
            <a:chOff x="3764" y="2839"/>
            <a:chExt cx="2949" cy="1352"/>
          </a:xfrm>
        </p:grpSpPr>
        <p:sp>
          <p:nvSpPr>
            <p:cNvPr id="30" name="矩形 29"/>
            <p:cNvSpPr/>
            <p:nvPr/>
          </p:nvSpPr>
          <p:spPr>
            <a:xfrm>
              <a:off x="3767" y="2839"/>
              <a:ext cx="2946" cy="8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到店盛况实录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3764" y="3678"/>
              <a:ext cx="2946" cy="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热销战报传播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4371023" y="180213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现场直接看到三位车主当场下单，秦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这是要卖疯啊！》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369435" y="1365250"/>
            <a:ext cx="592645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标题示例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71023" y="227076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《直击秦L上市周末：4S店看车排长队，销售直呼忙不过来！》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371023" y="2751455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《秦L到店实拍，现场人气火爆，咨询下单不断》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371023" y="320040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刷到秦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首周销量战报，单车型销量超某些品牌全系，这波是妥妥的爆款预定！》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371023" y="368408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内部消息：秦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上市首周订单已突破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万台</a:t>
            </a:r>
            <a:r>
              <a:rPr 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这节奏是要再造销冠神话！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371023" y="416496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精打细算的奶爸：为何秦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是给家人最好的礼物？》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371023" y="4631690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都市通勤最优解：秦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的高颜值与自动泊车如何征服我？》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371023" y="5111750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后设计师：秦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的国潮美学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超长续航，完美满足颜值与实用的双重追求》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371023" y="559117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体验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报告：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工业奇迹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是否名副其实？》</a:t>
            </a:r>
            <a:endParaRPr 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397490" y="1802765"/>
            <a:ext cx="866775" cy="227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397490" y="1365250"/>
            <a:ext cx="86677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传播形式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398125" y="4164965"/>
            <a:ext cx="861695" cy="2300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1320780" y="1802765"/>
            <a:ext cx="669925" cy="227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endParaRPr 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320780" y="1365250"/>
            <a:ext cx="66992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传播量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（参考）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321415" y="4164965"/>
            <a:ext cx="669925" cy="2300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endParaRPr 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74198" y="605853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新车首月使用心得：从续航到智能驾驶，秦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给我的十大惊喜体验》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2" name="组合 41"/>
          <p:cNvGrpSpPr/>
          <p:nvPr/>
        </p:nvGrpSpPr>
        <p:spPr>
          <a:xfrm>
            <a:off x="2392680" y="4168775"/>
            <a:ext cx="1872615" cy="2301875"/>
          </a:xfrm>
        </p:spPr>
        <p:grpSpPr>
          <a:xfrm>
            <a:off x="2392680" y="4168775"/>
            <a:ext cx="1872615" cy="2301875"/>
            <a:chOff x="3764" y="2839"/>
            <a:chExt cx="2949" cy="1367"/>
          </a:xfrm>
        </p:grpSpPr>
        <p:sp>
          <p:nvSpPr>
            <p:cNvPr id="43" name="矩形 42"/>
            <p:cNvSpPr/>
            <p:nvPr/>
          </p:nvSpPr>
          <p:spPr>
            <a:xfrm>
              <a:off x="3767" y="2839"/>
              <a:ext cx="2946" cy="8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典型车主故事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3764" y="3678"/>
              <a:ext cx="2946" cy="5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提车及用车矩阵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