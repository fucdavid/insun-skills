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" name="文本框 18"/>
          <p:cNvSpPr txBox="1"/>
          <p:nvPr>
            <p:custDataLst>
              <p:tags r:id="rId1"/>
            </p:custDataLst>
          </p:nvPr>
        </p:nvSpPr>
        <p:spPr>
          <a:xfrm>
            <a:off x="1496292" y="191389"/>
            <a:ext cx="2090056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舆情预判与应对</a:t>
            </a:r>
            <a:endParaRPr lang="zh-CN" altLang="en-US" b="1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71475" y="857885"/>
            <a:ext cx="11490325" cy="52260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秦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L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上新舆情预判与应对策略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</a:t>
            </a:r>
            <a:endParaRPr lang="en-US" altLang="zh-CN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70840" y="2141220"/>
            <a:ext cx="1125220" cy="104838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舆情</a:t>
            </a:r>
            <a:r>
              <a:rPr lang="zh-CN" altLang="en-US" sz="16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预判</a:t>
            </a:r>
            <a:endParaRPr lang="zh-CN" altLang="en-US" sz="16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71475" y="3295650"/>
            <a:ext cx="1125220" cy="44005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应对策略</a:t>
            </a:r>
            <a:endParaRPr lang="zh-CN" altLang="en-US" sz="16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371475" y="3842385"/>
            <a:ext cx="1125220" cy="162941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具体动作</a:t>
            </a:r>
            <a:endParaRPr lang="zh-CN" altLang="en-US" sz="16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370840" y="5577840"/>
            <a:ext cx="1125220" cy="103187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监测</a:t>
            </a:r>
            <a:r>
              <a:rPr lang="zh-CN" altLang="en-US" sz="16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引导</a:t>
            </a:r>
            <a:endParaRPr lang="zh-CN" altLang="en-US" sz="16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71475" y="1444625"/>
            <a:ext cx="1125220" cy="58229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风险主体</a:t>
            </a:r>
            <a:endParaRPr lang="zh-CN" altLang="en-US" sz="16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3" name="组合 12"/>
          <p:cNvGrpSpPr/>
          <p:nvPr/>
        </p:nvGrpSpPr>
        <p:spPr>
          <a:xfrm>
            <a:off x="1649730" y="1444625"/>
            <a:ext cx="10212070" cy="582295"/>
          </a:xfrm>
        </p:spPr>
        <p:grpSpPr>
          <a:xfrm rot="0">
            <a:off x="1649730" y="1444625"/>
            <a:ext cx="10212070" cy="582295"/>
            <a:chOff x="2463" y="2275"/>
            <a:chExt cx="13336" cy="1284"/>
          </a:xfrm>
          <a:solidFill>
            <a:schemeClr val="tx1"/>
          </a:solidFill>
        </p:grpSpPr>
        <p:sp>
          <p:nvSpPr>
            <p:cNvPr id="9" name="矩形 8"/>
            <p:cNvSpPr/>
            <p:nvPr/>
          </p:nvSpPr>
          <p:spPr>
            <a:xfrm>
              <a:off x="2463" y="2275"/>
              <a:ext cx="3184" cy="128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600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</a:rPr>
                <a:t>老车主</a:t>
              </a:r>
              <a:endParaRPr lang="zh-CN" altLang="en-US" sz="16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0" name="矩形 9"/>
            <p:cNvSpPr/>
            <p:nvPr/>
          </p:nvSpPr>
          <p:spPr>
            <a:xfrm>
              <a:off x="5847" y="2275"/>
              <a:ext cx="3184" cy="128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600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</a:rPr>
                <a:t>新车主</a:t>
              </a:r>
              <a:endParaRPr lang="zh-CN" altLang="en-US" sz="16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9231" y="2275"/>
              <a:ext cx="3184" cy="128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600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</a:rPr>
                <a:t>自媒体</a:t>
              </a:r>
              <a:endParaRPr lang="zh-CN" altLang="en-US" sz="16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2" name="矩形 11"/>
            <p:cNvSpPr/>
            <p:nvPr/>
          </p:nvSpPr>
          <p:spPr>
            <a:xfrm>
              <a:off x="12615" y="2275"/>
              <a:ext cx="3184" cy="128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600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</a:rPr>
                <a:t>竞品</a:t>
              </a:r>
              <a:endParaRPr lang="zh-CN" altLang="en-US" sz="16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15" name="矩形 14"/>
          <p:cNvSpPr/>
          <p:nvPr/>
        </p:nvSpPr>
        <p:spPr>
          <a:xfrm>
            <a:off x="1649730" y="2144395"/>
            <a:ext cx="2437765" cy="10363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400" b="1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“</a:t>
            </a:r>
            <a:r>
              <a:rPr lang="zh-CN" altLang="en-US" sz="1400" b="1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感觉</a:t>
            </a:r>
            <a:r>
              <a:rPr lang="en-US" sz="1400" b="1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背刺”</a:t>
            </a:r>
            <a:br>
              <a:rPr lang="en-US" altLang="zh-CN" sz="1000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</a:br>
            <a:r>
              <a:rPr lang="en-US" altLang="zh-CN" sz="1000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“</a:t>
            </a:r>
            <a:r>
              <a:rPr lang="zh-CN" altLang="en-US" sz="1000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感觉被背刺，新款升级太大！</a:t>
            </a:r>
            <a:r>
              <a:rPr lang="en-US" altLang="zh-CN" sz="1000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”</a:t>
            </a:r>
            <a:endParaRPr lang="en-US" altLang="zh-CN" sz="1000">
              <a:solidFill>
                <a:schemeClr val="tx1"/>
              </a:solidFill>
              <a:effectLst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4241165" y="2144395"/>
            <a:ext cx="2437765" cy="10363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 b="1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“</a:t>
            </a:r>
            <a:r>
              <a:rPr lang="zh-CN" altLang="en-US" sz="1400" b="1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宣传质疑</a:t>
            </a:r>
            <a:r>
              <a:rPr lang="en-US" altLang="zh-CN" sz="1400" b="1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”</a:t>
            </a:r>
            <a:br>
              <a:rPr lang="en-US" altLang="zh-CN" sz="1400" b="1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</a:br>
            <a:r>
              <a:rPr lang="zh-CN" altLang="en-US" sz="1000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“云辇C体验不明显”“续航有水分吗？”</a:t>
            </a:r>
            <a:endParaRPr lang="zh-CN" altLang="en-US" sz="1000">
              <a:solidFill>
                <a:schemeClr val="tx1"/>
              </a:solidFill>
              <a:effectLst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6832600" y="2153285"/>
            <a:ext cx="2437765" cy="10363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 b="1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“</a:t>
            </a:r>
            <a:r>
              <a:rPr lang="zh-CN" altLang="en-US" sz="1400" b="1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参数对比</a:t>
            </a:r>
            <a:r>
              <a:rPr lang="en-US" altLang="zh-CN" sz="1400" b="1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”</a:t>
            </a:r>
            <a:br>
              <a:rPr lang="en-US" altLang="zh-CN" sz="1400" b="1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</a:br>
            <a:r>
              <a:rPr lang="zh-CN" altLang="en-US" sz="1000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“低配版配置低”</a:t>
            </a:r>
            <a:r>
              <a:rPr lang="en-US" altLang="zh-CN" sz="1000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“</a:t>
            </a:r>
            <a:r>
              <a:rPr lang="zh-CN" altLang="en-US" sz="1000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加速性能不如某某</a:t>
            </a:r>
            <a:r>
              <a:rPr lang="en-US" altLang="zh-CN" sz="1000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”</a:t>
            </a:r>
            <a:endParaRPr lang="en-US" altLang="zh-CN" sz="1000">
              <a:solidFill>
                <a:schemeClr val="tx1"/>
              </a:solidFill>
              <a:effectLst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9424035" y="2153285"/>
            <a:ext cx="2437765" cy="10363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 b="1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“</a:t>
            </a:r>
            <a:r>
              <a:rPr lang="zh-CN" altLang="en-US" sz="1400" b="1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质量攻击</a:t>
            </a:r>
            <a:r>
              <a:rPr lang="en-US" altLang="zh-CN" sz="1400" b="1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”</a:t>
            </a:r>
            <a:br>
              <a:rPr lang="en-US" altLang="zh-CN" sz="1400" b="1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</a:br>
            <a:r>
              <a:rPr lang="zh-CN" altLang="en-US" sz="1000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“便宜没好</a:t>
            </a:r>
            <a:r>
              <a:rPr lang="zh-CN" altLang="en-US" sz="1000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货”</a:t>
            </a:r>
            <a:r>
              <a:rPr lang="en-US" altLang="zh-CN" sz="1000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“</a:t>
            </a:r>
            <a:r>
              <a:rPr lang="zh-CN" altLang="en-US" sz="1000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看不见的地方减配</a:t>
            </a:r>
            <a:r>
              <a:rPr lang="en-US" altLang="zh-CN" sz="1000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”</a:t>
            </a:r>
            <a:endParaRPr lang="en-US" altLang="zh-CN" sz="1000">
              <a:solidFill>
                <a:schemeClr val="tx1"/>
              </a:solidFill>
              <a:effectLst/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2" name="组合 21"/>
          <p:cNvGrpSpPr/>
          <p:nvPr/>
        </p:nvGrpSpPr>
        <p:spPr>
          <a:xfrm>
            <a:off x="1649095" y="3298190"/>
            <a:ext cx="10212070" cy="431165"/>
          </a:xfrm>
        </p:spPr>
        <p:grpSpPr>
          <a:xfrm rot="0">
            <a:off x="1649095" y="3298190"/>
            <a:ext cx="10212070" cy="431165"/>
            <a:chOff x="2463" y="2275"/>
            <a:chExt cx="13336" cy="1284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23" name="矩形 22"/>
            <p:cNvSpPr/>
            <p:nvPr/>
          </p:nvSpPr>
          <p:spPr>
            <a:xfrm>
              <a:off x="2463" y="2275"/>
              <a:ext cx="3184" cy="128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200" b="1">
                  <a:solidFill>
                    <a:schemeClr val="tx1"/>
                  </a:solidFill>
                  <a:effectLst/>
                  <a:latin typeface="微软雅黑" panose="020B0503020204020204" charset="-122"/>
                  <a:ea typeface="微软雅黑" panose="020B0503020204020204" charset="-122"/>
                </a:rPr>
                <a:t>营造</a:t>
              </a:r>
              <a:r>
                <a:rPr lang="en-US" altLang="zh-CN" sz="1200" b="1">
                  <a:solidFill>
                    <a:schemeClr val="tx1"/>
                  </a:solidFill>
                  <a:effectLst/>
                  <a:latin typeface="微软雅黑" panose="020B0503020204020204" charset="-122"/>
                  <a:ea typeface="微软雅黑" panose="020B0503020204020204" charset="-122"/>
                </a:rPr>
                <a:t>“</a:t>
              </a:r>
              <a:r>
                <a:rPr lang="zh-CN" altLang="en-US" sz="1200" b="1">
                  <a:solidFill>
                    <a:schemeClr val="tx1"/>
                  </a:solidFill>
                  <a:effectLst/>
                  <a:latin typeface="微软雅黑" panose="020B0503020204020204" charset="-122"/>
                  <a:ea typeface="微软雅黑" panose="020B0503020204020204" charset="-122"/>
                </a:rPr>
                <a:t>共同成长</a:t>
              </a:r>
              <a:r>
                <a:rPr lang="en-US" altLang="zh-CN" sz="1200" b="1">
                  <a:solidFill>
                    <a:schemeClr val="tx1"/>
                  </a:solidFill>
                  <a:effectLst/>
                  <a:latin typeface="微软雅黑" panose="020B0503020204020204" charset="-122"/>
                  <a:ea typeface="微软雅黑" panose="020B0503020204020204" charset="-122"/>
                </a:rPr>
                <a:t>”</a:t>
              </a:r>
              <a:r>
                <a:rPr lang="zh-CN" altLang="en-US" sz="1200" b="1">
                  <a:solidFill>
                    <a:schemeClr val="tx1"/>
                  </a:solidFill>
                  <a:effectLst/>
                  <a:latin typeface="微软雅黑" panose="020B0503020204020204" charset="-122"/>
                  <a:ea typeface="微软雅黑" panose="020B0503020204020204" charset="-122"/>
                </a:rPr>
                <a:t>的荣誉感</a:t>
              </a:r>
              <a:r>
                <a:rPr lang="zh-CN" altLang="en-US" sz="1200" b="1">
                  <a:solidFill>
                    <a:schemeClr val="tx1"/>
                  </a:solidFill>
                  <a:effectLst/>
                  <a:latin typeface="微软雅黑" panose="020B0503020204020204" charset="-122"/>
                  <a:ea typeface="微软雅黑" panose="020B0503020204020204" charset="-122"/>
                </a:rPr>
                <a:t>氛围</a:t>
              </a:r>
              <a:endParaRPr lang="zh-CN" altLang="en-US" sz="1200" b="1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4" name="矩形 23"/>
            <p:cNvSpPr/>
            <p:nvPr/>
          </p:nvSpPr>
          <p:spPr>
            <a:xfrm>
              <a:off x="5847" y="2275"/>
              <a:ext cx="3184" cy="1284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zh-CN" altLang="en-US" sz="1200" b="1">
                  <a:solidFill>
                    <a:schemeClr val="tx1"/>
                  </a:solidFill>
                  <a:effectLst/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发动用户进行</a:t>
              </a:r>
              <a:r>
                <a:rPr lang="en-US" altLang="zh-CN" sz="1200" b="1">
                  <a:solidFill>
                    <a:schemeClr val="tx1"/>
                  </a:solidFill>
                  <a:effectLst/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“</a:t>
              </a:r>
              <a:r>
                <a:rPr lang="zh-CN" altLang="en-US" sz="1200" b="1">
                  <a:solidFill>
                    <a:schemeClr val="tx1"/>
                  </a:solidFill>
                  <a:effectLst/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真实</a:t>
              </a:r>
              <a:r>
                <a:rPr lang="zh-CN" altLang="en-US" sz="1200" b="1">
                  <a:solidFill>
                    <a:schemeClr val="tx1"/>
                  </a:solidFill>
                  <a:effectLst/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细节</a:t>
              </a:r>
              <a:r>
                <a:rPr lang="en-US" altLang="zh-CN" sz="1200" b="1">
                  <a:solidFill>
                    <a:schemeClr val="tx1"/>
                  </a:solidFill>
                  <a:effectLst/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”</a:t>
              </a:r>
              <a:r>
                <a:rPr lang="zh-CN" altLang="en-US" sz="1200" b="1">
                  <a:solidFill>
                    <a:schemeClr val="tx1"/>
                  </a:solidFill>
                  <a:effectLst/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共证</a:t>
              </a:r>
              <a:endParaRPr lang="zh-CN" altLang="en-US" sz="1200" b="1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25" name="矩形 24"/>
            <p:cNvSpPr/>
            <p:nvPr/>
          </p:nvSpPr>
          <p:spPr>
            <a:xfrm>
              <a:off x="9231" y="2275"/>
              <a:ext cx="3184" cy="1284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zh-CN" altLang="en-US" sz="1200" b="1">
                  <a:solidFill>
                    <a:schemeClr val="tx1"/>
                  </a:solidFill>
                  <a:effectLst/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用</a:t>
              </a:r>
              <a:r>
                <a:rPr lang="en-US" altLang="zh-CN" sz="1200" b="1">
                  <a:solidFill>
                    <a:schemeClr val="tx1"/>
                  </a:solidFill>
                  <a:effectLst/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“</a:t>
              </a:r>
              <a:r>
                <a:rPr lang="zh-CN" altLang="en-US" sz="1200" b="1">
                  <a:solidFill>
                    <a:schemeClr val="tx1"/>
                  </a:solidFill>
                  <a:effectLst/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用户视角</a:t>
              </a:r>
              <a:r>
                <a:rPr lang="en-US" altLang="zh-CN" sz="1200" b="1">
                  <a:solidFill>
                    <a:schemeClr val="tx1"/>
                  </a:solidFill>
                  <a:effectLst/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”</a:t>
              </a:r>
              <a:r>
                <a:rPr lang="zh-CN" altLang="en-US" sz="1200" b="1">
                  <a:solidFill>
                    <a:schemeClr val="tx1"/>
                  </a:solidFill>
                  <a:effectLst/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进行降维打击</a:t>
              </a:r>
              <a:endParaRPr lang="zh-CN" altLang="en-US" sz="1200" b="1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12615" y="2275"/>
              <a:ext cx="3184" cy="1284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zh-CN" altLang="en-US" sz="1200" b="1">
                  <a:solidFill>
                    <a:schemeClr val="tx1"/>
                  </a:solidFill>
                  <a:effectLst/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用</a:t>
              </a:r>
              <a:r>
                <a:rPr lang="en-US" altLang="zh-CN" sz="1200" b="1">
                  <a:solidFill>
                    <a:schemeClr val="tx1"/>
                  </a:solidFill>
                  <a:effectLst/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“</a:t>
              </a:r>
              <a:r>
                <a:rPr lang="zh-CN" altLang="en-US" sz="1200" b="1">
                  <a:solidFill>
                    <a:schemeClr val="tx1"/>
                  </a:solidFill>
                  <a:effectLst/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用户信任</a:t>
              </a:r>
              <a:r>
                <a:rPr lang="en-US" altLang="zh-CN" sz="1200" b="1">
                  <a:solidFill>
                    <a:schemeClr val="tx1"/>
                  </a:solidFill>
                  <a:effectLst/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”</a:t>
              </a:r>
              <a:r>
                <a:rPr lang="zh-CN" altLang="en-US" sz="1200" b="1">
                  <a:solidFill>
                    <a:schemeClr val="tx1"/>
                  </a:solidFill>
                  <a:effectLst/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构筑</a:t>
              </a:r>
              <a:r>
                <a:rPr lang="zh-CN" altLang="en-US" sz="1200" b="1">
                  <a:solidFill>
                    <a:schemeClr val="tx1"/>
                  </a:solidFill>
                  <a:effectLst/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舆情防线</a:t>
              </a:r>
              <a:endParaRPr lang="zh-CN" altLang="en-US" sz="1200" b="1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  <p:sp>
        <p:nvSpPr>
          <p:cNvPr id="28" name="矩形 27"/>
          <p:cNvSpPr/>
          <p:nvPr/>
        </p:nvSpPr>
        <p:spPr>
          <a:xfrm>
            <a:off x="1649095" y="3846830"/>
            <a:ext cx="2437765" cy="16173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 altLang="zh-CN" sz="1000" b="1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1. </a:t>
            </a:r>
            <a:r>
              <a:rPr lang="zh-CN" altLang="en-US" sz="1000" b="1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放大格局言论：</a:t>
            </a:r>
            <a:r>
              <a:rPr lang="en-US" altLang="zh-CN" sz="1000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 </a:t>
            </a:r>
            <a:br>
              <a:rPr lang="en-US" altLang="zh-CN" sz="1000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</a:br>
            <a:r>
              <a:rPr lang="zh-CN" altLang="en-US" sz="900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重点</a:t>
            </a:r>
            <a:r>
              <a:rPr lang="zh-CN" altLang="en-US" sz="900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置顶用户评论如：</a:t>
            </a:r>
            <a:r>
              <a:rPr lang="en-US" altLang="zh-CN" sz="900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“</a:t>
            </a:r>
            <a:r>
              <a:rPr lang="zh-CN" altLang="en-US" sz="900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技术迭代快是好事，说明我们国产品牌在飞速进步，作为老车主也感到自豪！</a:t>
            </a:r>
            <a:r>
              <a:rPr lang="en-US" altLang="zh-CN" sz="900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”</a:t>
            </a:r>
            <a:br>
              <a:rPr lang="zh-CN" altLang="en-US" sz="900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</a:br>
            <a:endParaRPr lang="zh-CN" altLang="en-US" sz="1000">
              <a:solidFill>
                <a:schemeClr val="tx1"/>
              </a:solidFill>
              <a:effectLst/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en-US" altLang="zh-CN" sz="1000" b="1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2. </a:t>
            </a:r>
            <a:r>
              <a:rPr lang="zh-CN" altLang="en-US" sz="1000" b="1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引导价值认同：</a:t>
            </a:r>
            <a:br>
              <a:rPr lang="zh-CN" altLang="en-US" sz="1000" b="1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</a:br>
            <a:r>
              <a:rPr lang="zh-CN" altLang="en-US" sz="900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鼓励老车主分享</a:t>
            </a:r>
            <a:r>
              <a:rPr lang="en-US" altLang="en-US" sz="900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 </a:t>
            </a:r>
            <a:r>
              <a:rPr lang="en-US" altLang="zh-CN" sz="900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“</a:t>
            </a:r>
            <a:r>
              <a:rPr lang="zh-CN" altLang="en-US" sz="900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我的老款依然很好开，科技产品都是消费品</a:t>
            </a:r>
            <a:r>
              <a:rPr lang="zh-CN" altLang="en-US" sz="900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，早买早享受！</a:t>
            </a:r>
            <a:r>
              <a:rPr lang="en-US" altLang="zh-CN" sz="900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”</a:t>
            </a:r>
            <a:r>
              <a:rPr lang="zh-CN" altLang="en-US" sz="900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，转化负面情绪。</a:t>
            </a:r>
            <a:endParaRPr lang="zh-CN" altLang="en-US" sz="900">
              <a:solidFill>
                <a:schemeClr val="tx1"/>
              </a:solidFill>
              <a:effectLst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4240530" y="3846830"/>
            <a:ext cx="2437765" cy="16173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l">
              <a:buClrTx/>
              <a:buSzTx/>
              <a:buFontTx/>
            </a:pPr>
            <a:r>
              <a:rPr lang="en-US" altLang="zh-CN" sz="1000" b="1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1. </a:t>
            </a:r>
            <a:r>
              <a:rPr lang="zh-CN" altLang="en-US" sz="1000" b="1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引导细节分享：</a:t>
            </a:r>
            <a:r>
              <a:rPr lang="en-US" altLang="en-US" sz="900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 </a:t>
            </a:r>
            <a:br>
              <a:rPr lang="en-US" altLang="en-US" sz="900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</a:br>
            <a:r>
              <a:rPr lang="zh-CN" altLang="en-US" sz="900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鼓励用户拍摄</a:t>
            </a:r>
            <a:r>
              <a:rPr lang="en-US" altLang="en-US" sz="900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 </a:t>
            </a:r>
            <a:r>
              <a:rPr lang="en-US" altLang="zh-CN" sz="900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“</a:t>
            </a:r>
            <a:r>
              <a:rPr lang="zh-CN" altLang="en-US" sz="900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颠簸路段水杯测试</a:t>
            </a:r>
            <a:r>
              <a:rPr lang="en-US" altLang="zh-CN" sz="900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”</a:t>
            </a:r>
            <a:r>
              <a:rPr lang="zh-CN" altLang="en-US" sz="900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、</a:t>
            </a:r>
            <a:r>
              <a:rPr lang="en-US" altLang="zh-CN" sz="900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“</a:t>
            </a:r>
            <a:r>
              <a:rPr lang="zh-CN" altLang="en-US" sz="900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不同驾驶模式底盘感受对比</a:t>
            </a:r>
            <a:r>
              <a:rPr lang="en-US" altLang="zh-CN" sz="900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”</a:t>
            </a:r>
            <a:r>
              <a:rPr lang="en-US" altLang="en-US" sz="900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 </a:t>
            </a:r>
            <a:r>
              <a:rPr lang="zh-CN" altLang="en-US" sz="900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等视频，用细节证明实力</a:t>
            </a:r>
            <a:br>
              <a:rPr lang="zh-CN" altLang="en-US" sz="900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</a:br>
            <a:br>
              <a:rPr lang="zh-CN" altLang="en-US" sz="900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</a:br>
            <a:r>
              <a:rPr lang="zh-CN" altLang="en-US" sz="1000" b="1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2. 鼓励场景化记录：</a:t>
            </a:r>
            <a:r>
              <a:rPr lang="en-US" altLang="en-US" sz="900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 </a:t>
            </a:r>
            <a:br>
              <a:rPr lang="en-US" altLang="en-US" sz="900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</a:br>
            <a:r>
              <a:rPr lang="zh-CN" altLang="en-US" sz="900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引导用户发布</a:t>
            </a:r>
            <a:r>
              <a:rPr lang="en-US" altLang="en-US" sz="900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 </a:t>
            </a:r>
            <a:r>
              <a:rPr lang="zh-CN" altLang="en-US" sz="900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《秦</a:t>
            </a:r>
            <a:r>
              <a:rPr lang="en-US" altLang="zh-CN" sz="900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L</a:t>
            </a:r>
            <a:r>
              <a:rPr lang="zh-CN" altLang="en-US" sz="900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真实一周通勤能耗记录》</a:t>
            </a:r>
            <a:r>
              <a:rPr lang="en-US" altLang="en-US" sz="900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 </a:t>
            </a:r>
            <a:r>
              <a:rPr lang="en-US" altLang="zh-CN" sz="900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Vlog</a:t>
            </a:r>
            <a:r>
              <a:rPr lang="zh-CN" altLang="en-US" sz="900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，用日常记录打消疑虑</a:t>
            </a:r>
            <a:br>
              <a:rPr lang="zh-CN" altLang="en-US" sz="900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</a:br>
            <a:endParaRPr lang="zh-CN" altLang="en-US" sz="900">
              <a:solidFill>
                <a:schemeClr val="tx1"/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6831965" y="3855720"/>
            <a:ext cx="2437765" cy="16173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l">
              <a:buClrTx/>
              <a:buSzTx/>
              <a:buFontTx/>
            </a:pPr>
            <a:r>
              <a:rPr lang="en-US" altLang="zh-CN" sz="1000" b="1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1. </a:t>
            </a:r>
            <a:r>
              <a:rPr lang="zh-CN" altLang="en-US" sz="1000" b="1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引导晒“标配”价值</a:t>
            </a:r>
            <a:br>
              <a:rPr lang="zh-CN" altLang="en-US" sz="900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</a:br>
            <a:r>
              <a:rPr lang="zh-CN" altLang="en-US" sz="900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鼓励用户发布</a:t>
            </a:r>
            <a:r>
              <a:rPr lang="en-US" altLang="en-US" sz="900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 </a:t>
            </a:r>
            <a:r>
              <a:rPr lang="zh-CN" altLang="en-US" sz="900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《别看低配，全系标配的</a:t>
            </a:r>
            <a:r>
              <a:rPr lang="en-US" altLang="zh-CN" sz="900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DiPilot</a:t>
            </a:r>
            <a:r>
              <a:rPr lang="zh-CN" altLang="en-US" sz="900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才是良心！》</a:t>
            </a:r>
            <a:r>
              <a:rPr lang="en-US" altLang="en-US" sz="900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 </a:t>
            </a:r>
            <a:r>
              <a:rPr lang="zh-CN" altLang="en-US" sz="900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等内容</a:t>
            </a:r>
            <a:br>
              <a:rPr lang="zh-CN" altLang="en-US" sz="900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</a:br>
            <a:br>
              <a:rPr lang="zh-CN" altLang="en-US" sz="900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</a:br>
            <a:r>
              <a:rPr lang="en-US" altLang="zh-CN" sz="1000" b="1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2. </a:t>
            </a:r>
            <a:r>
              <a:rPr lang="zh-CN" altLang="en-US" sz="1000" b="1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聚焦用户真实需求</a:t>
            </a:r>
            <a:br>
              <a:rPr lang="zh-CN" altLang="en-US" sz="900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</a:br>
            <a:r>
              <a:rPr lang="zh-CN" altLang="en-US" sz="900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在参数争议下，以用户视角反驳：</a:t>
            </a:r>
            <a:r>
              <a:rPr lang="en-US" altLang="zh-CN" sz="900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“</a:t>
            </a:r>
            <a:r>
              <a:rPr lang="zh-CN" altLang="en-US" sz="900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参数我不懂，但我知道这车开着坐着都舒服，配置高价格低，这才是老百姓要的车</a:t>
            </a:r>
            <a:r>
              <a:rPr lang="en-US" altLang="zh-CN" sz="900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”</a:t>
            </a:r>
            <a:br>
              <a:rPr lang="en-US" altLang="zh-CN" sz="900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</a:br>
            <a:endParaRPr lang="en-US" altLang="zh-CN" sz="900">
              <a:solidFill>
                <a:schemeClr val="tx1"/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9423400" y="3855720"/>
            <a:ext cx="2437765" cy="16173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l">
              <a:buClrTx/>
              <a:buSzTx/>
              <a:buFontTx/>
            </a:pPr>
            <a:r>
              <a:rPr lang="en-US" altLang="zh-CN" sz="1000" b="1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1. </a:t>
            </a:r>
            <a:r>
              <a:rPr lang="zh-CN" altLang="en-US" sz="1000" b="1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放大普及量和成熟度</a:t>
            </a:r>
            <a:br>
              <a:rPr lang="zh-CN" altLang="en-US" sz="1000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</a:br>
            <a:r>
              <a:rPr lang="zh-CN" altLang="en-US" sz="900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引导讨论</a:t>
            </a:r>
            <a:r>
              <a:rPr lang="en-US" altLang="zh-CN" sz="900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DM</a:t>
            </a:r>
            <a:r>
              <a:rPr lang="zh-CN" altLang="en-US" sz="900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技术的成熟性与可靠性，用庞大的市场保有量作为信任背书</a:t>
            </a:r>
            <a:br>
              <a:rPr lang="zh-CN" altLang="en-US" sz="1000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</a:br>
            <a:br>
              <a:rPr lang="zh-CN" altLang="en-US" sz="1000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</a:br>
            <a:r>
              <a:rPr lang="en-US" altLang="zh-CN" sz="1000" b="1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2. </a:t>
            </a:r>
            <a:r>
              <a:rPr lang="zh-CN" altLang="en-US" sz="1000" b="1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强化真实新老车主口碑</a:t>
            </a:r>
            <a:br>
              <a:rPr lang="zh-CN" altLang="en-US" sz="1000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</a:br>
            <a:r>
              <a:rPr lang="zh-CN" altLang="en-US" sz="900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集中传播用户看车后的评价，如 “实车用料和做工远超这个价位，诚意是看得见摸得着的！以及老车主对老款车的口碑质量证言</a:t>
            </a:r>
            <a:br>
              <a:rPr lang="zh-CN" altLang="en-US" sz="900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</a:br>
            <a:endParaRPr lang="zh-CN" altLang="en-US" sz="900">
              <a:solidFill>
                <a:schemeClr val="tx1"/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1650365" y="5600065"/>
            <a:ext cx="5027930" cy="101790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fontAlgn="ctr">
              <a:lnSpc>
                <a:spcPct val="100000"/>
              </a:lnSpc>
            </a:pPr>
            <a:r>
              <a:rPr lang="zh-CN" altLang="en-US" sz="10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一、联合公司舆情管理部、媒体中心，成立“舆情专项小组”</a:t>
            </a:r>
            <a:br>
              <a:rPr lang="zh-CN" altLang="en-US" sz="9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</a:br>
            <a:r>
              <a:rPr lang="en-US" altLang="zh-CN" sz="9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1</a:t>
            </a:r>
            <a:r>
              <a:rPr lang="zh-CN" altLang="en-US" sz="9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、提前准备好引导话术；</a:t>
            </a:r>
            <a:br>
              <a:rPr lang="zh-CN" altLang="en-US" sz="9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</a:br>
            <a:r>
              <a:rPr lang="en-US" altLang="zh-CN" sz="9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2</a:t>
            </a:r>
            <a:r>
              <a:rPr lang="zh-CN" altLang="en-US" sz="9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、启动</a:t>
            </a:r>
            <a:r>
              <a:rPr lang="en-US" altLang="zh-CN" sz="9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24</a:t>
            </a:r>
            <a:r>
              <a:rPr lang="zh-CN" altLang="en-US" sz="9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小时全网监测；</a:t>
            </a:r>
            <a:br>
              <a:rPr lang="zh-CN" altLang="en-US" sz="9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</a:br>
            <a:r>
              <a:rPr lang="en-US" altLang="zh-CN" sz="9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3</a:t>
            </a:r>
            <a:r>
              <a:rPr lang="zh-CN" altLang="en-US" sz="9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、针对负面舆情：第一时间进行评论引导、限流、投诉、删帖、转移等</a:t>
            </a:r>
            <a:endParaRPr lang="zh-CN" altLang="en-US" sz="900">
              <a:solidFill>
                <a:srgbClr val="000000"/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6832600" y="5579745"/>
            <a:ext cx="5027930" cy="101790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fontAlgn="ctr">
              <a:lnSpc>
                <a:spcPct val="100000"/>
              </a:lnSpc>
            </a:pPr>
            <a:r>
              <a:rPr lang="zh-CN" altLang="en-US" sz="10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二、联动外部舆情供应商，同频舆情引导策略，主动铺排传播内容</a:t>
            </a:r>
            <a:br>
              <a:rPr lang="zh-CN" altLang="en-US" sz="7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</a:br>
            <a:r>
              <a:rPr lang="zh-CN" altLang="en-US" sz="9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1、官方政策在论坛、车友圈、社媒全网扩散，定调次上新为正常的营销节奏</a:t>
            </a:r>
            <a:br>
              <a:rPr lang="zh-CN" altLang="en-US" sz="9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</a:br>
            <a:r>
              <a:rPr lang="zh-CN" altLang="en-US" sz="9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2、继续传播热销、好用信息，结合新政策进行导购，突出买车要买热销款、现在购车正当时；</a:t>
            </a:r>
            <a:br>
              <a:rPr lang="zh-CN" altLang="en-US" sz="9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</a:br>
            <a:r>
              <a:rPr lang="zh-CN" altLang="en-US" sz="9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3、大量铺设用户看车、对比、提车作业，在舆论上营造热销浪潮</a:t>
            </a:r>
            <a:endParaRPr lang="zh-CN" altLang="en-US" sz="9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