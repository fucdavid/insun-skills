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整体策略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71475" y="766445"/>
            <a:ext cx="11490325" cy="7753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延伸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工业奇迹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的市场号召力，用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价值诚意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拉满用户决策期待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——</a:t>
            </a:r>
            <a:b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让新款产品的</a:t>
            </a:r>
            <a:r>
              <a:rPr lang="en-US" altLang="zh-CN" sz="24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诚意</a:t>
            </a:r>
            <a:r>
              <a:rPr lang="en-US" altLang="zh-CN" sz="24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看得见、摸得着，让用户直观感受到</a:t>
            </a:r>
            <a:r>
              <a:rPr lang="en-US" altLang="zh-CN" sz="24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选得值、买得对</a:t>
            </a:r>
            <a:r>
              <a:rPr lang="en-US" altLang="zh-CN" sz="2400" b="1" u="sng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2400" b="1" u="sng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475" y="1837690"/>
            <a:ext cx="11490325" cy="910590"/>
          </a:xfrm>
          <a:prstGeom prst="roundRect">
            <a:avLst>
              <a:gd name="adj" fmla="val 49999"/>
            </a:avLst>
          </a:prstGeom>
          <a:solidFill>
            <a:schemeClr val="tx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8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秦王加推</a:t>
            </a:r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工业奇迹，拉满</a:t>
            </a:r>
            <a:r>
              <a:rPr lang="zh-CN" altLang="en-US" sz="44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诚意</a:t>
            </a:r>
            <a:endParaRPr lang="zh-CN" altLang="en-US" sz="4400" b="1" u="sng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426393" y="1583055"/>
            <a:ext cx="1380490" cy="21336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核心传播点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0840" y="6197600"/>
            <a:ext cx="11491595" cy="4457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用诚意具象化的高价值体验，跳出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唯低价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的价格内卷，秦</a:t>
            </a:r>
            <a:r>
              <a:rPr lang="en-US" altLang="zh-CN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sz="16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的传播布局，必将成为王朝秦系产品夯实高价值的破局之刃</a:t>
            </a:r>
            <a:endParaRPr lang="zh-CN" altLang="en-US" sz="160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1475" y="2789555"/>
            <a:ext cx="1149032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ctr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200" b="1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工业奇迹：</a:t>
            </a:r>
            <a:r>
              <a:rPr lang="zh-CN" altLang="en-US"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承接品牌技术光环，彰显颠覆性的技术实力与行业地位</a:t>
            </a: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ctr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200" b="1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拉满诚意：</a:t>
            </a:r>
            <a:r>
              <a:rPr lang="zh-CN" altLang="en-US"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从用户视角出发，用大白话直接沟通，精准概括“加配不加价”甚至“加配还降价”的价值感知，激发共鸣</a:t>
            </a: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spPr>
          <a:xfrm>
            <a:off x="371475" y="3327400"/>
            <a:ext cx="11489690" cy="565150"/>
          </a:xfrm>
        </p:spPr>
        <p:grpSpPr>
          <a:xfrm>
            <a:off x="371475" y="3327400"/>
            <a:ext cx="11489690" cy="565150"/>
            <a:chOff x="585" y="2351"/>
            <a:chExt cx="18414" cy="890"/>
          </a:xfrm>
        </p:grpSpPr>
        <p:sp>
          <p:nvSpPr>
            <p:cNvPr id="17" name="矩形 16"/>
            <p:cNvSpPr/>
            <p:nvPr/>
          </p:nvSpPr>
          <p:spPr>
            <a:xfrm>
              <a:off x="585" y="2351"/>
              <a:ext cx="6005" cy="8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上市前（预热期）</a:t>
              </a:r>
              <a:endPara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790" y="2351"/>
              <a:ext cx="6005" cy="8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上市中（爆发期）</a:t>
              </a:r>
              <a:endPara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2995" y="2351"/>
              <a:ext cx="6005" cy="8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上市后（长尾期）</a:t>
              </a:r>
              <a:endPara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371475" y="3934460"/>
            <a:ext cx="3747135" cy="3371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pPr marL="0" indent="0"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悬念造势与铺垫</a:t>
            </a:r>
            <a:r>
              <a:rPr lang="zh-CN" altLang="en-US" sz="1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期待</a:t>
            </a:r>
            <a:endParaRPr lang="zh-CN" altLang="en-US" sz="1600" b="1" i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243070" y="3928110"/>
            <a:ext cx="3747135" cy="3371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pPr marL="0" indent="0"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价值释放与实力</a:t>
            </a:r>
            <a:r>
              <a:rPr lang="zh-CN" altLang="en-US" sz="1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击穿</a:t>
            </a:r>
            <a:endParaRPr lang="zh-CN" altLang="en-US" sz="1600" b="1" i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114665" y="3928110"/>
            <a:ext cx="3747135" cy="3371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pPr marL="0" indent="0"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口碑带动与热销营造</a:t>
            </a:r>
            <a:endParaRPr lang="zh-CN" altLang="en-US" sz="1600" b="1" i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0845" y="4398010"/>
            <a:ext cx="3714750" cy="16598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</a:t>
            </a: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新款诚意</a:t>
            </a:r>
            <a:b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引爆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市场期待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43070" y="4391660"/>
            <a:ext cx="3714750" cy="16598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新款诚意</a:t>
            </a:r>
            <a:b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用户决策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147685" y="4401185"/>
            <a:ext cx="3714750" cy="16598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noAutofit/>
          </a:bodyPr>
          <a:p>
            <a:pPr algn="ctr">
              <a:buClrTx/>
              <a:buSzTx/>
              <a:buFontTx/>
            </a:pPr>
            <a: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扩散新款诚意</a:t>
            </a:r>
            <a:b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信赖之选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