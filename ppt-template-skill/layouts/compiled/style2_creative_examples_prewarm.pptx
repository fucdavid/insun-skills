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8" name="图片 27"/>
          <p:cNvPicPr>
            <a:picLocks noChangeAspect="1"/>
          </p:cNvPicPr>
          <p:nvPr/>
        </p:nvPicPr>
        <p:blipFill>
          <a:blip r:embed="rId12"/>
          <a:srcRect t="12191" b="38917"/>
          <a:stretch>
            <a:fillRect/>
          </a:stretch>
        </p:blipFill>
        <p:spPr>
          <a:xfrm>
            <a:off x="8016875" y="2428875"/>
            <a:ext cx="3737610" cy="24371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rcRect t="11383" b="6292"/>
          <a:stretch>
            <a:fillRect/>
          </a:stretch>
        </p:blipFill>
        <p:spPr>
          <a:xfrm>
            <a:off x="4178300" y="2458720"/>
            <a:ext cx="1851025" cy="239268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rcRect t="10371"/>
          <a:stretch>
            <a:fillRect/>
          </a:stretch>
        </p:blipFill>
        <p:spPr>
          <a:xfrm>
            <a:off x="5996940" y="2453640"/>
            <a:ext cx="1862455" cy="242252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" y="2452370"/>
            <a:ext cx="3573145" cy="24130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1496292" y="191389"/>
            <a:ext cx="209005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执行规划</a:t>
            </a:r>
            <a:endParaRPr lang="zh-CN" altLang="en-US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0530" y="857885"/>
            <a:ext cx="11330305" cy="522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通过密集新老款对比与悬念式剧透，将加配信息深度渗透，为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新款诚意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做足铺垫，拉高期待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1305" y="138049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i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</a:t>
            </a:r>
            <a:r>
              <a:rPr lang="zh-CN" altLang="en-US" sz="1200" i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部分创意示例</a:t>
            </a:r>
            <a:endParaRPr lang="zh-CN" altLang="en-US" sz="1200" i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30530" y="6031230"/>
            <a:ext cx="11160760" cy="2755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p>
            <a:pPr algn="l"/>
            <a:r>
              <a:rPr lang="zh-CN" alt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铺设平台：</a:t>
            </a:r>
            <a:r>
              <a:rPr 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各平台同步铺设</a:t>
            </a:r>
            <a:endParaRPr 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>
            <p:custDataLst>
              <p:tags r:id="rId6"/>
            </p:custDataLst>
          </p:nvPr>
        </p:nvSpPr>
        <p:spPr>
          <a:xfrm>
            <a:off x="8005445" y="5069840"/>
            <a:ext cx="3756025" cy="762635"/>
          </a:xfrm>
          <a:prstGeom prst="rect">
            <a:avLst/>
          </a:prstGeom>
          <a:noFill/>
          <a:ln w="9525">
            <a:solidFill>
              <a:srgbClr val="CA2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</a:rPr>
              <a:t>评论铺设：</a:t>
            </a:r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【国风美学供情绪自豪】</a:t>
            </a:r>
            <a:endParaRPr lang="zh-CN" altLang="en-US" sz="1400" b="1" dirty="0">
              <a:solidFill>
                <a:srgbClr val="CA2C2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“这龙颜设计是真心帅！不比那些外国牌子差”</a:t>
            </a:r>
            <a:endParaRPr lang="en-US" alt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>
            <p:custDataLst>
              <p:tags r:id="rId7"/>
            </p:custDataLst>
          </p:nvPr>
        </p:nvSpPr>
        <p:spPr>
          <a:xfrm>
            <a:off x="8005445" y="4187190"/>
            <a:ext cx="3757295" cy="789940"/>
          </a:xfrm>
          <a:prstGeom prst="rect">
            <a:avLst/>
          </a:prstGeom>
          <a:solidFill>
            <a:schemeClr val="tx1">
              <a:alpha val="70000"/>
            </a:schemeClr>
          </a:solidFill>
          <a:ln w="9525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lvl="0" algn="ctr" fontAlgn="auto">
              <a:lnSpc>
                <a:spcPct val="100000"/>
              </a:lnSpc>
              <a:buClrTx/>
              <a:buSzTx/>
              <a:buFontTx/>
              <a:defRPr/>
            </a:pPr>
            <a:r>
              <a:rPr kumimoji="0" lang="en-US" altLang="zh-CN" sz="1000" b="0" i="1" u="none" strike="noStrike" kern="1200" cap="none" spc="0" normalizeH="0" baseline="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1000" b="0" i="1" u="none" strike="noStrike" kern="1200" cap="none" spc="0" normalizeH="0" baseline="0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10866655" y="5916813"/>
            <a:ext cx="363220" cy="36326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6" name="椭圆 35"/>
          <p:cNvSpPr/>
          <p:nvPr/>
        </p:nvSpPr>
        <p:spPr>
          <a:xfrm>
            <a:off x="10506610" y="5936615"/>
            <a:ext cx="333375" cy="343535"/>
          </a:xfrm>
          <a:prstGeom prst="ellipse">
            <a:avLst/>
          </a:prstGeom>
          <a:blipFill rotWithShape="1">
            <a:blip r:embed="rId11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Picture 10" descr="https://5b0988e595225.cdn.sohucs.com/images/20190801/a65f1ec44e0a4237ac2dce504559e795.jpeg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2" r="15628"/>
          <a:stretch>
            <a:fillRect/>
          </a:stretch>
        </p:blipFill>
        <p:spPr bwMode="auto">
          <a:xfrm>
            <a:off x="10116680" y="5917942"/>
            <a:ext cx="363260" cy="36326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组合 37"/>
          <p:cNvGrpSpPr/>
          <p:nvPr/>
        </p:nvGrpSpPr>
        <p:spPr>
          <a:xfrm>
            <a:off x="9357995" y="5924550"/>
            <a:ext cx="719455" cy="382905"/>
          </a:xfrm>
        </p:spPr>
        <p:grpSpPr>
          <a:xfrm>
            <a:off x="9357995" y="5924550"/>
            <a:ext cx="719455" cy="382905"/>
            <a:chOff x="17629" y="10318"/>
            <a:chExt cx="1105" cy="589"/>
          </a:xfrm>
        </p:grpSpPr>
        <p:pic>
          <p:nvPicPr>
            <p:cNvPr id="40" name="图片 39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8158" y="10318"/>
              <a:ext cx="576" cy="576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7" name="图片 46"/>
            <p:cNvPicPr/>
            <p:nvPr/>
          </p:nvPicPr>
          <p:blipFill>
            <a:blip r:embed="rId8"/>
            <a:srcRect l="13711" r="13711"/>
            <a:stretch>
              <a:fillRect/>
            </a:stretch>
          </p:blipFill>
          <p:spPr>
            <a:xfrm>
              <a:off x="17629" y="10335"/>
              <a:ext cx="572" cy="572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57" name="图片 5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7"/>
          <a:srcRect l="6975" t="12077" r="7914" b="7017"/>
          <a:stretch>
            <a:fillRect/>
          </a:stretch>
        </p:blipFill>
        <p:spPr>
          <a:xfrm>
            <a:off x="11256545" y="5935345"/>
            <a:ext cx="354330" cy="33909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3" name="矩形 62"/>
          <p:cNvSpPr/>
          <p:nvPr>
            <p:custDataLst>
              <p:tags r:id="rId18"/>
            </p:custDataLst>
          </p:nvPr>
        </p:nvSpPr>
        <p:spPr>
          <a:xfrm>
            <a:off x="4128135" y="5074920"/>
            <a:ext cx="3731260" cy="757555"/>
          </a:xfrm>
          <a:prstGeom prst="rect">
            <a:avLst/>
          </a:prstGeom>
          <a:noFill/>
          <a:ln w="9525">
            <a:solidFill>
              <a:srgbClr val="CA2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</a:rPr>
              <a:t>评论铺设：</a:t>
            </a:r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【趣味竞猜价格期待</a:t>
            </a:r>
            <a:r>
              <a:rPr lang="en-US" altLang="zh-CN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</a:rPr>
              <a:t>】</a:t>
            </a:r>
            <a:endParaRPr lang="en-US" altLang="zh-CN" sz="1400" b="1" dirty="0">
              <a:solidFill>
                <a:srgbClr val="CA2C2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“我盲猜一个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12.98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万起！要是真这价，别说工业奇迹了，这分明是直接掀桌子了！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矩形 63"/>
          <p:cNvSpPr/>
          <p:nvPr>
            <p:custDataLst>
              <p:tags r:id="rId19"/>
            </p:custDataLst>
          </p:nvPr>
        </p:nvSpPr>
        <p:spPr>
          <a:xfrm>
            <a:off x="4163695" y="4187825"/>
            <a:ext cx="3695700" cy="789305"/>
          </a:xfrm>
          <a:prstGeom prst="rect">
            <a:avLst/>
          </a:prstGeom>
          <a:solidFill>
            <a:schemeClr val="tx1">
              <a:alpha val="70000"/>
            </a:schemeClr>
          </a:solidFill>
          <a:ln w="9525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i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en-US" altLang="zh-CN" sz="1000" i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配置拉满的秦L，你认为什么价格才算‘工业奇迹’</a:t>
            </a:r>
            <a:r>
              <a:rPr lang="en-US" altLang="zh-CN" sz="1000" i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》</a:t>
            </a:r>
            <a:endParaRPr lang="en-US" altLang="zh-CN" sz="1000" i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9" name="矩形 68"/>
          <p:cNvSpPr/>
          <p:nvPr>
            <p:custDataLst>
              <p:tags r:id="rId20"/>
            </p:custDataLst>
          </p:nvPr>
        </p:nvSpPr>
        <p:spPr>
          <a:xfrm>
            <a:off x="433070" y="5074920"/>
            <a:ext cx="3590925" cy="757555"/>
          </a:xfrm>
          <a:prstGeom prst="rect">
            <a:avLst/>
          </a:prstGeom>
          <a:noFill/>
          <a:ln w="9525">
            <a:solidFill>
              <a:srgbClr val="CA2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</a:rPr>
              <a:t>评论铺设：</a:t>
            </a:r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【实力配置直观感知</a:t>
            </a:r>
            <a:r>
              <a:rPr lang="en-US" altLang="zh-CN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】</a:t>
            </a:r>
            <a:endParaRPr lang="en-US" altLang="zh-CN" sz="1400" b="1" dirty="0">
              <a:solidFill>
                <a:srgbClr val="CA2C2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“看了秦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加推的内容，这配置太硬核了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>
            <p:custDataLst>
              <p:tags r:id="rId21"/>
            </p:custDataLst>
          </p:nvPr>
        </p:nvSpPr>
        <p:spPr>
          <a:xfrm>
            <a:off x="450215" y="4192905"/>
            <a:ext cx="3556000" cy="779145"/>
          </a:xfrm>
          <a:prstGeom prst="rect">
            <a:avLst/>
          </a:prstGeom>
          <a:solidFill>
            <a:schemeClr val="tx1">
              <a:alpha val="70000"/>
            </a:schemeClr>
          </a:solidFill>
          <a:ln w="9525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r>
              <a:rPr lang="en-US" altLang="zh-CN" sz="1000" i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en-US" altLang="zh-CN" sz="1000" i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猜猜新款秦L多了哪些硬货？盘点三大“王炸”升级！</a:t>
            </a:r>
            <a:r>
              <a:rPr lang="en-US" altLang="zh-CN" sz="1000" i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》</a:t>
            </a:r>
            <a:endParaRPr lang="en-US" altLang="zh-CN" sz="1000" i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1165" y="1668780"/>
            <a:ext cx="3602355" cy="4381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升级配置解析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02270" y="1671955"/>
            <a:ext cx="3767455" cy="4381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视觉美学预热</a:t>
            </a:r>
            <a:endParaRPr 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8310" y="2142490"/>
            <a:ext cx="35852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升级配置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解析铺垫用户期待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986395" y="2144395"/>
            <a:ext cx="3631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国潮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龙颜美学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拉高期待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78300" y="1668780"/>
            <a:ext cx="3679190" cy="4381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价格竞猜预埋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0530" y="2453641"/>
            <a:ext cx="1466215" cy="275589"/>
          </a:xfrm>
          <a:prstGeom prst="homePlate">
            <a:avLst/>
          </a:prstGeom>
          <a:solidFill>
            <a:srgbClr val="FFD5D5"/>
          </a:solidFill>
        </p:spPr>
        <p:txBody>
          <a:bodyPr wrap="square" rtlCol="0" anchor="ctr" anchorCtr="0">
            <a:spAutoFit/>
          </a:bodyPr>
          <a:p>
            <a:pPr lvl="0" algn="dist">
              <a:buClrTx/>
              <a:buSzTx/>
              <a:buFontTx/>
            </a:pPr>
            <a:r>
              <a:rPr lang="zh-CN" alt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对比图/短视频</a:t>
            </a:r>
            <a:endParaRPr lang="zh-CN" alt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3" name="图片 22" descr="播放 (2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440" y="3180080"/>
            <a:ext cx="997585" cy="99758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4163695" y="2453641"/>
            <a:ext cx="1466215" cy="275589"/>
          </a:xfrm>
          <a:prstGeom prst="homePlate">
            <a:avLst/>
          </a:prstGeom>
          <a:solidFill>
            <a:srgbClr val="FFD5D5"/>
          </a:solidFill>
        </p:spPr>
        <p:txBody>
          <a:bodyPr wrap="square" rtlCol="0" anchor="ctr" anchorCtr="0">
            <a:spAutoFit/>
          </a:bodyPr>
          <a:p>
            <a:pPr lvl="0" algn="dist">
              <a:buClrTx/>
              <a:buSzTx/>
              <a:buFontTx/>
            </a:pPr>
            <a:r>
              <a:rPr lang="zh-CN" alt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对比图/短视频</a:t>
            </a:r>
            <a:endParaRPr lang="zh-CN" alt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160520" y="2129790"/>
            <a:ext cx="36766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制造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价格悬念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引发讨论关注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005445" y="2401571"/>
            <a:ext cx="1466215" cy="275589"/>
          </a:xfrm>
          <a:prstGeom prst="homePlate">
            <a:avLst/>
          </a:prstGeom>
          <a:solidFill>
            <a:srgbClr val="FFD5D5"/>
          </a:solidFill>
        </p:spPr>
        <p:txBody>
          <a:bodyPr wrap="square" rtlCol="0" anchor="ctr" anchorCtr="0">
            <a:spAutoFit/>
          </a:bodyPr>
          <a:p>
            <a:pPr lvl="0" algn="dist">
              <a:buClrTx/>
              <a:buSzTx/>
              <a:buFontTx/>
            </a:pPr>
            <a:r>
              <a:rPr lang="zh-CN" alt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外观美图</a:t>
            </a:r>
            <a:endParaRPr lang="zh-CN" alt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