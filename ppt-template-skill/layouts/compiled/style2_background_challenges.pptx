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1496292" y="191389"/>
            <a:ext cx="209005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背景</a:t>
            </a:r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洞察</a:t>
            </a:r>
            <a:endParaRPr lang="zh-CN" altLang="en-US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371475" y="776605"/>
            <a:ext cx="11490325" cy="565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面临挑战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秦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吹响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级家轿高价值战役，但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也面临来自市场及用户的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多重挑战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0840" y="5953125"/>
            <a:ext cx="3748405" cy="690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用户对12-15万轿车的预期仍停留在“够用即可”</a:t>
            </a:r>
            <a:br>
              <a:rPr lang="zh-CN" altLang="en-US" sz="1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需打破其对</a:t>
            </a:r>
            <a:r>
              <a:rPr lang="en-US" altLang="zh-CN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高价值体验</a:t>
            </a:r>
            <a:r>
              <a:rPr lang="en-US" altLang="zh-CN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的认知天花板</a:t>
            </a:r>
            <a:endParaRPr lang="zh-CN" altLang="en-US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43070" y="1492885"/>
            <a:ext cx="3747135" cy="5651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挑战</a:t>
            </a:r>
            <a:r>
              <a:rPr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：市场竞争挑战</a:t>
            </a:r>
            <a:endParaRPr lang="zh-CN" alt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115300" y="1492885"/>
            <a:ext cx="3747135" cy="5651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挑战</a:t>
            </a:r>
            <a:r>
              <a:rPr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：技术信任挑战</a:t>
            </a:r>
            <a:endParaRPr lang="zh-CN" alt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113395" y="5953125"/>
            <a:ext cx="3748405" cy="690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“云辇-C下放”可能被质疑为“营销噱头”</a:t>
            </a:r>
            <a:br>
              <a:rPr lang="zh-CN" altLang="en-US" sz="1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需通过真实体验建立“技术平权”的深刻感知</a:t>
            </a:r>
            <a:endParaRPr lang="zh-CN" altLang="en-US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rcRect l="-238" t="17181" r="238" b="887"/>
          <a:stretch>
            <a:fillRect/>
          </a:stretch>
        </p:blipFill>
        <p:spPr>
          <a:xfrm>
            <a:off x="4243070" y="2058035"/>
            <a:ext cx="3728720" cy="389509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241800" y="5953125"/>
            <a:ext cx="3748405" cy="690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该价位区间竞争极度激烈，竞品会紧盯“价格”进行攻击</a:t>
            </a:r>
            <a:br>
              <a:rPr lang="zh-CN" altLang="en-US" sz="1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需将战场从“价格对比”转移至“价值对比”</a:t>
            </a:r>
            <a:endParaRPr lang="zh-CN" altLang="en-US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6570" y="2058035"/>
            <a:ext cx="1914525" cy="28282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4900" y="2058035"/>
            <a:ext cx="1866900" cy="28289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rcRect r="2121" b="2985"/>
          <a:stretch>
            <a:fillRect/>
          </a:stretch>
        </p:blipFill>
        <p:spPr>
          <a:xfrm>
            <a:off x="7971790" y="4886325"/>
            <a:ext cx="3889375" cy="3302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 t="9402"/>
          <a:stretch>
            <a:fillRect/>
          </a:stretch>
        </p:blipFill>
        <p:spPr>
          <a:xfrm>
            <a:off x="8096250" y="5140325"/>
            <a:ext cx="1909445" cy="3365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095" y="5534025"/>
            <a:ext cx="1943100" cy="361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b="13333"/>
          <a:stretch>
            <a:fillRect/>
          </a:stretch>
        </p:blipFill>
        <p:spPr>
          <a:xfrm>
            <a:off x="9984740" y="5140325"/>
            <a:ext cx="1876425" cy="55816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2056130"/>
            <a:ext cx="1948180" cy="326898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71475" y="1492885"/>
            <a:ext cx="3747135" cy="5651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</a:t>
            </a:r>
            <a:r>
              <a:rPr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：用户认知挑战</a:t>
            </a:r>
            <a:endParaRPr lang="zh-CN" alt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2" name="组合 21"/>
          <p:cNvGrpSpPr/>
          <p:nvPr/>
        </p:nvGrpSpPr>
        <p:spPr>
          <a:xfrm>
            <a:off x="2223135" y="2068830"/>
            <a:ext cx="1865630" cy="3233420"/>
          </a:xfrm>
        </p:spPr>
        <p:grpSpPr>
          <a:xfrm>
            <a:off x="2223135" y="2068830"/>
            <a:ext cx="1865630" cy="3233420"/>
            <a:chOff x="3501" y="3258"/>
            <a:chExt cx="2938" cy="5092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501" y="3258"/>
              <a:ext cx="2938" cy="5093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537" y="3328"/>
              <a:ext cx="2711" cy="3701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3653" y="7116"/>
              <a:ext cx="2560" cy="5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p>
              <a:r>
                <a:rPr lang="en-US" altLang="zh-CN" sz="9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12-15</a:t>
              </a:r>
              <a:r>
                <a:rPr lang="zh-CN" altLang="en-US" sz="9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万买车别硬卷！</a:t>
              </a:r>
              <a:r>
                <a:rPr lang="en-US" altLang="zh-CN" sz="9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</a:t>
              </a:r>
              <a:r>
                <a:rPr lang="zh-CN" altLang="en-US" sz="9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够用</a:t>
              </a:r>
              <a:r>
                <a:rPr lang="en-US" altLang="zh-CN" sz="9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r>
                <a:rPr lang="zh-CN" altLang="en-US" sz="9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就赢了！</a:t>
              </a:r>
              <a:endParaRPr lang="zh-CN" altLang="en-US" sz="9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130" y="5313680"/>
            <a:ext cx="3717290" cy="38608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/>
          <a:srcRect l="-239" t="39370"/>
          <a:stretch>
            <a:fillRect/>
          </a:stretch>
        </p:blipFill>
        <p:spPr>
          <a:xfrm>
            <a:off x="362585" y="5711190"/>
            <a:ext cx="3725545" cy="195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