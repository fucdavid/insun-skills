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png"/><Relationship Id="rId12" Type="http://schemas.openxmlformats.org/officeDocument/2006/relationships/image" Target="../media/image11.jp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3" name="图片 32"/>
          <p:cNvPicPr>
            <a:picLocks noChangeAspect="1"/>
          </p:cNvPicPr>
          <p:nvPr/>
        </p:nvPicPr>
        <p:blipFill>
          <a:blip r:embed="rId13"/>
          <a:srcRect b="9423"/>
          <a:stretch>
            <a:fillRect/>
          </a:stretch>
        </p:blipFill>
        <p:spPr>
          <a:xfrm>
            <a:off x="9834880" y="2636520"/>
            <a:ext cx="1775460" cy="220345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6"/>
          <a:srcRect b="9779"/>
          <a:stretch>
            <a:fillRect/>
          </a:stretch>
        </p:blipFill>
        <p:spPr>
          <a:xfrm>
            <a:off x="8002905" y="2655570"/>
            <a:ext cx="1831975" cy="217932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745" y="2566670"/>
            <a:ext cx="1753870" cy="235966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b="13252"/>
          <a:stretch>
            <a:fillRect/>
          </a:stretch>
        </p:blipFill>
        <p:spPr>
          <a:xfrm>
            <a:off x="4110990" y="2765425"/>
            <a:ext cx="1959610" cy="21323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rcRect b="49489"/>
          <a:stretch>
            <a:fillRect/>
          </a:stretch>
        </p:blipFill>
        <p:spPr>
          <a:xfrm>
            <a:off x="260985" y="2450465"/>
            <a:ext cx="3681730" cy="247967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496292" y="191389"/>
            <a:ext cx="2090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执行规划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0530" y="857885"/>
            <a:ext cx="11330305" cy="522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快速引爆声量，将发布会信息转化为用户决策的临门一脚，夯实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家轿天花板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认知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1305" y="138049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i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</a:t>
            </a:r>
            <a:r>
              <a:rPr lang="zh-CN" altLang="en-US" sz="1200" i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部分创意示例</a:t>
            </a:r>
            <a:endParaRPr lang="zh-CN" altLang="en-US" sz="1200" i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81940" y="6031230"/>
            <a:ext cx="11309350" cy="2755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algn="l"/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铺设平台：</a:t>
            </a:r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社媒平台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0%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微博、抖音、小红书；</a:t>
            </a:r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资讯平台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0%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今日头条；</a:t>
            </a:r>
            <a:r>
              <a:rPr lang="zh-CN" altLang="en-US" sz="1200" b="1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垂媒平台</a:t>
            </a:r>
            <a:r>
              <a:rPr lang="en-US" altLang="zh-CN" sz="1200" b="1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1200" b="1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0%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懂车帝、汽车之家</a:t>
            </a:r>
            <a:endParaRPr lang="zh-CN" alt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>
            <p:custDataLst>
              <p:tags r:id="rId7"/>
            </p:custDataLst>
          </p:nvPr>
        </p:nvSpPr>
        <p:spPr>
          <a:xfrm>
            <a:off x="8005445" y="5069840"/>
            <a:ext cx="3592195" cy="762635"/>
          </a:xfrm>
          <a:prstGeom prst="rect">
            <a:avLst/>
          </a:prstGeom>
          <a:noFill/>
          <a:ln w="9525">
            <a:solidFill>
              <a:srgbClr val="CA2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评论铺设：</a:t>
            </a:r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【真实体验促信任】</a:t>
            </a:r>
            <a:endParaRPr lang="zh-CN" altLang="en-US" sz="1400" b="1" dirty="0">
              <a:solidFill>
                <a:srgbClr val="CA2C2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“刚试驾完，底盘质感比试驾前的预期高出一大截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！”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7980045" y="4187190"/>
            <a:ext cx="3630930" cy="789940"/>
          </a:xfrm>
          <a:prstGeom prst="rect">
            <a:avLst/>
          </a:prstGeom>
          <a:solidFill>
            <a:schemeClr val="tx1">
              <a:alpha val="70000"/>
            </a:schemeClr>
          </a:solidFill>
          <a:ln w="9525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  <a:defRPr/>
            </a:pP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云辇-C实测：秦L过减速带，舒适感直接拉满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sz="1000" i="1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10866655" y="5916813"/>
            <a:ext cx="363220" cy="36326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6" name="椭圆 35"/>
          <p:cNvSpPr/>
          <p:nvPr/>
        </p:nvSpPr>
        <p:spPr>
          <a:xfrm>
            <a:off x="10506610" y="5936615"/>
            <a:ext cx="333375" cy="343535"/>
          </a:xfrm>
          <a:prstGeom prst="ellipse">
            <a:avLst/>
          </a:prstGeom>
          <a:blipFill rotWithShape="1">
            <a:blip r:embed="rId11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Picture 10" descr="https://5b0988e595225.cdn.sohucs.com/images/20190801/a65f1ec44e0a4237ac2dce504559e795.jpeg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2" r="15628"/>
          <a:stretch>
            <a:fillRect/>
          </a:stretch>
        </p:blipFill>
        <p:spPr bwMode="auto">
          <a:xfrm>
            <a:off x="10116680" y="5917942"/>
            <a:ext cx="363260" cy="36326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组合 37"/>
          <p:cNvGrpSpPr/>
          <p:nvPr/>
        </p:nvGrpSpPr>
        <p:spPr>
          <a:xfrm>
            <a:off x="9357995" y="5924550"/>
            <a:ext cx="719455" cy="382905"/>
          </a:xfrm>
        </p:spPr>
        <p:grpSpPr>
          <a:xfrm>
            <a:off x="9357995" y="5924550"/>
            <a:ext cx="719455" cy="382905"/>
            <a:chOff x="17629" y="10318"/>
            <a:chExt cx="1105" cy="589"/>
          </a:xfrm>
        </p:grpSpPr>
        <p:pic>
          <p:nvPicPr>
            <p:cNvPr id="40" name="图片 39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8158" y="10318"/>
              <a:ext cx="576" cy="576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7" name="图片 46"/>
            <p:cNvPicPr/>
            <p:nvPr/>
          </p:nvPicPr>
          <p:blipFill>
            <a:blip r:embed="rId8"/>
            <a:srcRect l="13711" r="13711"/>
            <a:stretch>
              <a:fillRect/>
            </a:stretch>
          </p:blipFill>
          <p:spPr>
            <a:xfrm>
              <a:off x="17629" y="10335"/>
              <a:ext cx="572" cy="572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57" name="图片 5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7"/>
          <a:srcRect l="6975" t="12077" r="7914" b="7017"/>
          <a:stretch>
            <a:fillRect/>
          </a:stretch>
        </p:blipFill>
        <p:spPr>
          <a:xfrm>
            <a:off x="11256545" y="5935345"/>
            <a:ext cx="354330" cy="33909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3" name="矩形 62"/>
          <p:cNvSpPr/>
          <p:nvPr>
            <p:custDataLst>
              <p:tags r:id="rId19"/>
            </p:custDataLst>
          </p:nvPr>
        </p:nvSpPr>
        <p:spPr>
          <a:xfrm>
            <a:off x="4128135" y="5074920"/>
            <a:ext cx="3731260" cy="757555"/>
          </a:xfrm>
          <a:prstGeom prst="rect">
            <a:avLst/>
          </a:prstGeom>
          <a:noFill/>
          <a:ln w="9525">
            <a:solidFill>
              <a:srgbClr val="CA2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评论铺设：</a:t>
            </a:r>
            <a:r>
              <a:rPr lang="en-US" altLang="zh-CN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金句调侃助传播</a:t>
            </a:r>
            <a:r>
              <a:rPr lang="en-US" altLang="zh-CN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】</a:t>
            </a:r>
            <a:endParaRPr lang="en-US" altLang="zh-CN" sz="1400" b="1" dirty="0">
              <a:solidFill>
                <a:srgbClr val="CA2C2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“看完秦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的配置再去看同级合资车，感觉就像从智能机时代回到按键机时代！”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矩形 63"/>
          <p:cNvSpPr/>
          <p:nvPr>
            <p:custDataLst>
              <p:tags r:id="rId20"/>
            </p:custDataLst>
          </p:nvPr>
        </p:nvSpPr>
        <p:spPr>
          <a:xfrm>
            <a:off x="4128135" y="4187825"/>
            <a:ext cx="3731260" cy="789305"/>
          </a:xfrm>
          <a:prstGeom prst="rect">
            <a:avLst/>
          </a:prstGeom>
          <a:solidFill>
            <a:schemeClr val="tx1">
              <a:alpha val="70000"/>
            </a:schemeClr>
          </a:solidFill>
          <a:ln w="9525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  <a:defRPr/>
            </a:pP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秦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L vs 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主流合资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级车：同样的钱，你得到的是“毛坯房”还是“精装科技宅”？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》 </a:t>
            </a:r>
            <a:endParaRPr lang="en-US" altLang="zh-CN" sz="1000" i="1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矩形 68"/>
          <p:cNvSpPr/>
          <p:nvPr>
            <p:custDataLst>
              <p:tags r:id="rId21"/>
            </p:custDataLst>
          </p:nvPr>
        </p:nvSpPr>
        <p:spPr>
          <a:xfrm>
            <a:off x="281305" y="5074920"/>
            <a:ext cx="3742690" cy="757555"/>
          </a:xfrm>
          <a:prstGeom prst="rect">
            <a:avLst/>
          </a:prstGeom>
          <a:noFill/>
          <a:ln w="9525">
            <a:solidFill>
              <a:srgbClr val="CA2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评论铺设：</a:t>
            </a:r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【配置拉满引热议</a:t>
            </a:r>
            <a:r>
              <a:rPr lang="en-US" altLang="zh-CN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】</a:t>
            </a:r>
            <a:endParaRPr lang="en-US" altLang="zh-CN" sz="1400" b="1" dirty="0">
              <a:solidFill>
                <a:srgbClr val="CA2C2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这配置单拉下来全是勾！加量不加价，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国产真的站起来了！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>
            <p:custDataLst>
              <p:tags r:id="rId22"/>
            </p:custDataLst>
          </p:nvPr>
        </p:nvSpPr>
        <p:spPr>
          <a:xfrm>
            <a:off x="274955" y="4192905"/>
            <a:ext cx="3709670" cy="779145"/>
          </a:xfrm>
          <a:prstGeom prst="rect">
            <a:avLst/>
          </a:prstGeom>
          <a:solidFill>
            <a:schemeClr val="tx1">
              <a:alpha val="70000"/>
            </a:schemeClr>
          </a:solidFill>
          <a:ln w="9525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  <a:defRPr/>
            </a:pP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一图看懂“配置超顶”的秦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L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endParaRPr lang="en-US" altLang="zh-CN" sz="1000" i="1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283845" y="2461578"/>
            <a:ext cx="1340485" cy="275589"/>
          </a:xfrm>
          <a:prstGeom prst="homePlate">
            <a:avLst/>
          </a:prstGeom>
          <a:solidFill>
            <a:srgbClr val="FFD5D5"/>
          </a:solidFill>
        </p:spPr>
        <p:txBody>
          <a:bodyPr wrap="square" rtlCol="0" anchor="ctr" anchorCtr="0">
            <a:spAutoFit/>
          </a:bodyPr>
          <a:p>
            <a:pPr lvl="0" algn="dist">
              <a:buClrTx/>
              <a:buSzTx/>
              <a:buFontTx/>
            </a:pPr>
            <a:r>
              <a:rPr lang="zh-CN" alt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配置王炸长图</a:t>
            </a:r>
            <a:endParaRPr lang="zh-CN" alt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0985" y="1671955"/>
            <a:ext cx="3772535" cy="438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配置拉满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0990" y="1671955"/>
            <a:ext cx="3747770" cy="438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价值对比</a:t>
            </a:r>
            <a:endParaRPr 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83220" y="1664970"/>
            <a:ext cx="3634740" cy="438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KOC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真实体验</a:t>
            </a:r>
            <a:endParaRPr 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985" y="2142490"/>
            <a:ext cx="3772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价格质量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双线强化本品信任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28135" y="2453958"/>
            <a:ext cx="1219200" cy="275589"/>
          </a:xfrm>
          <a:prstGeom prst="homePlate">
            <a:avLst/>
          </a:prstGeom>
          <a:solidFill>
            <a:srgbClr val="FFD5D5"/>
          </a:solidFill>
        </p:spPr>
        <p:txBody>
          <a:bodyPr wrap="square" rtlCol="0" anchor="ctr" anchorCtr="0">
            <a:spAutoFit/>
          </a:bodyPr>
          <a:p>
            <a:pPr algn="dist"/>
            <a:r>
              <a:rPr lang="zh-CN" altLang="en-US" sz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对比图</a:t>
            </a:r>
            <a:r>
              <a:rPr lang="en-US" altLang="zh-CN" sz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视频</a:t>
            </a:r>
            <a:endParaRPr lang="zh-CN" altLang="en-US" sz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086860" y="2142490"/>
            <a:ext cx="3772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以对标竞品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质价比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突出产品优势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05445" y="2461261"/>
            <a:ext cx="1353185" cy="275589"/>
          </a:xfrm>
          <a:prstGeom prst="homePlate">
            <a:avLst/>
          </a:prstGeom>
          <a:solidFill>
            <a:srgbClr val="FFD5D5"/>
          </a:solidFill>
        </p:spPr>
        <p:txBody>
          <a:bodyPr wrap="square" rtlCol="0" anchor="ctr" anchorCtr="0">
            <a:spAutoFit/>
          </a:bodyPr>
          <a:p>
            <a:pPr lvl="0" algn="dist">
              <a:buClrTx/>
              <a:buSzTx/>
              <a:buFontTx/>
            </a:pPr>
            <a:r>
              <a:rPr lang="zh-CN" alt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 KOC第一视角</a:t>
            </a:r>
            <a:endParaRPr lang="zh-CN" alt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986395" y="2144395"/>
            <a:ext cx="3631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第一视角沉浸式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加强产品理解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图片 33" descr="播放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092450"/>
            <a:ext cx="997585" cy="997585"/>
          </a:xfrm>
          <a:prstGeom prst="rect">
            <a:avLst/>
          </a:prstGeom>
        </p:spPr>
      </p:pic>
      <p:pic>
        <p:nvPicPr>
          <p:cNvPr id="35" name="图片 34" descr="播放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7995" y="2963545"/>
            <a:ext cx="997585" cy="997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