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文本框 18"/>
          <p:cNvSpPr txBox="1"/>
          <p:nvPr>
            <p:custDataLst>
              <p:tags r:id="rId1"/>
            </p:custDataLst>
          </p:nvPr>
        </p:nvSpPr>
        <p:spPr>
          <a:xfrm>
            <a:off x="1496292" y="191389"/>
            <a:ext cx="209005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执行规划</a:t>
            </a:r>
            <a:endParaRPr lang="zh-CN" altLang="en-US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箭头: 五边形 1"/>
          <p:cNvSpPr/>
          <p:nvPr/>
        </p:nvSpPr>
        <p:spPr>
          <a:xfrm>
            <a:off x="0" y="631825"/>
            <a:ext cx="7041515" cy="611505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爆发期</a:t>
            </a:r>
            <a:r>
              <a:rPr lang="en-US" altLang="zh-CN" sz="1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快速引爆声量，夯实</a:t>
            </a: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秦</a:t>
            </a: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诚意满满</a:t>
            </a: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认知</a:t>
            </a:r>
            <a:endParaRPr lang="zh-CN" altLang="en-US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23520" y="1365250"/>
            <a:ext cx="509905" cy="360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目标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/>
        </p:nvGrpSpPr>
        <p:spPr>
          <a:xfrm>
            <a:off x="223520" y="1802765"/>
            <a:ext cx="2064385" cy="2248535"/>
          </a:xfrm>
        </p:spPr>
        <p:grpSpPr>
          <a:xfrm>
            <a:off x="223520" y="1802765"/>
            <a:ext cx="2064385" cy="2248535"/>
            <a:chOff x="352" y="2839"/>
            <a:chExt cx="3251" cy="1356"/>
          </a:xfrm>
        </p:grpSpPr>
        <p:sp>
          <p:nvSpPr>
            <p:cNvPr id="21" name="矩形 20"/>
            <p:cNvSpPr/>
            <p:nvPr/>
          </p:nvSpPr>
          <p:spPr>
            <a:xfrm>
              <a:off x="352" y="2839"/>
              <a:ext cx="746" cy="134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价值释放</a:t>
              </a:r>
              <a:endParaRPr lang="zh-CN" altLang="en-US" sz="14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315" y="2839"/>
              <a:ext cx="2288" cy="135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强化标杆形象</a:t>
              </a:r>
              <a:br>
                <a:rPr lang="zh-CN" altLang="en-US" sz="16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</a:br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对发布会核心信息进行“短平快”的二创与分发，确保“价格”与“配置”两大核心爆点被精准、快速地接收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835660" y="1365250"/>
            <a:ext cx="1452245" cy="360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传播策略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8" name="组合 27"/>
          <p:cNvGrpSpPr/>
          <p:nvPr/>
        </p:nvGrpSpPr>
        <p:spPr>
          <a:xfrm>
            <a:off x="223520" y="4164330"/>
            <a:ext cx="2064385" cy="2306955"/>
          </a:xfrm>
        </p:spPr>
        <p:grpSpPr>
          <a:xfrm>
            <a:off x="223520" y="4164330"/>
            <a:ext cx="2064385" cy="2306955"/>
            <a:chOff x="352" y="4331"/>
            <a:chExt cx="3251" cy="5860"/>
          </a:xfrm>
        </p:grpSpPr>
        <p:sp>
          <p:nvSpPr>
            <p:cNvPr id="29" name="矩形 28"/>
            <p:cNvSpPr/>
            <p:nvPr/>
          </p:nvSpPr>
          <p:spPr>
            <a:xfrm>
              <a:off x="352" y="4331"/>
              <a:ext cx="746" cy="58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实力</a:t>
              </a:r>
              <a:r>
                <a:rPr lang="zh-CN" altLang="en-US" sz="1400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击穿</a:t>
              </a:r>
              <a:endParaRPr lang="zh-CN" altLang="en-US" sz="14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315" y="4331"/>
              <a:ext cx="2288" cy="5855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引爆诚意期待</a:t>
              </a:r>
              <a:br>
                <a:rPr lang="zh-CN" altLang="en-US" sz="16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</a:br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通过对比与证言，将产品优势转化为用户选择秦L的“无法反驳的理由”，直接推动下单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2393950" y="1365250"/>
            <a:ext cx="1873885" cy="360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主要方向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392045" y="1802765"/>
            <a:ext cx="432435" cy="22517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发布会高光二创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371023" y="1802130"/>
            <a:ext cx="5913755" cy="38735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《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看完秦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这价格和配置，新能源市场要变天了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369435" y="1365250"/>
            <a:ext cx="5926455" cy="360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标题示例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371023" y="2270760"/>
            <a:ext cx="5913755" cy="38735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《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一图看懂“配置超顶”的秦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371023" y="2751455"/>
            <a:ext cx="5913755" cy="38735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《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这波属于是把配置表直接填成满分答卷了》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371023" y="3200400"/>
            <a:ext cx="5913755" cy="38735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《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万级配置打到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万区间，这波堪称降维打击》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371023" y="3684080"/>
            <a:ext cx="5913755" cy="38735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《同样是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万级，一个给你满配科技，一个给你经典传承》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371023" y="4164965"/>
            <a:ext cx="5913755" cy="39306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《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 vs 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主流合资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级车：同样的钱，你得到的是“毛坯房”还是“精装科技宅”？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》</a:t>
            </a:r>
            <a:endParaRPr lang="en-US" altLang="zh-CN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371023" y="4631690"/>
            <a:ext cx="5913755" cy="39306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《看完秦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的配置清单，才发现同价位的合资车至少有三成价格是品牌溢价》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371023" y="5111750"/>
            <a:ext cx="5913755" cy="39306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《试驾秦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再坐进同级合资车，终于明白什么叫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时代的代沟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371023" y="5591175"/>
            <a:ext cx="5913755" cy="39306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《云辇-C实测：秦L过减速带，舒适感直接拉满》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397490" y="1802765"/>
            <a:ext cx="866775" cy="22777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</a:t>
            </a:r>
            <a:endParaRPr lang="en-US" altLang="zh-CN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0397490" y="1365250"/>
            <a:ext cx="866775" cy="360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传播形式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398125" y="4164965"/>
            <a:ext cx="861695" cy="2300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</a:t>
            </a:r>
            <a:endParaRPr lang="en-US" altLang="zh-CN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1320780" y="1802765"/>
            <a:ext cx="669925" cy="22777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None/>
            </a:pPr>
            <a:r>
              <a:rPr 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endParaRPr 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1320780" y="1365250"/>
            <a:ext cx="669925" cy="360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传播量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</a:rPr>
              <a:t>（参考）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1321415" y="4164965"/>
            <a:ext cx="669925" cy="2300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None/>
            </a:pPr>
            <a:r>
              <a:rPr 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endParaRPr 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4374198" y="6058535"/>
            <a:ext cx="5913755" cy="39306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《实测秦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满油满电跑完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1800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公里还没亮红灯，戒掉了续航焦虑》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8" name="组合 67"/>
          <p:cNvGrpSpPr/>
          <p:nvPr/>
        </p:nvGrpSpPr>
        <p:spPr>
          <a:xfrm>
            <a:off x="2392680" y="4168775"/>
            <a:ext cx="1872615" cy="2301875"/>
          </a:xfrm>
        </p:spPr>
        <p:grpSpPr>
          <a:xfrm>
            <a:off x="2392680" y="4168775"/>
            <a:ext cx="1872615" cy="2301875"/>
            <a:chOff x="3764" y="2839"/>
            <a:chExt cx="2949" cy="1367"/>
          </a:xfrm>
        </p:grpSpPr>
        <p:sp>
          <p:nvSpPr>
            <p:cNvPr id="69" name="矩形 68"/>
            <p:cNvSpPr/>
            <p:nvPr/>
          </p:nvSpPr>
          <p:spPr>
            <a:xfrm>
              <a:off x="3767" y="2839"/>
              <a:ext cx="2946" cy="8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价值对比印证</a:t>
              </a:r>
              <a:endPara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3764" y="3678"/>
              <a:ext cx="2946" cy="52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KOC</a:t>
              </a:r>
              <a:r>
                <a:rPr lang="zh-CN" altLang="en-US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真实体验分享</a:t>
              </a:r>
              <a:endPara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6" name="组合 75"/>
          <p:cNvGrpSpPr/>
          <p:nvPr/>
        </p:nvGrpSpPr>
        <p:spPr>
          <a:xfrm>
            <a:off x="2880995" y="1802130"/>
            <a:ext cx="1387475" cy="2251710"/>
          </a:xfrm>
        </p:spPr>
        <p:grpSpPr>
          <a:xfrm>
            <a:off x="2880995" y="1802130"/>
            <a:ext cx="1387475" cy="2251710"/>
            <a:chOff x="4537" y="2838"/>
            <a:chExt cx="2252" cy="2101"/>
          </a:xfrm>
        </p:grpSpPr>
        <p:sp>
          <p:nvSpPr>
            <p:cNvPr id="71" name="矩形 70"/>
            <p:cNvSpPr/>
            <p:nvPr/>
          </p:nvSpPr>
          <p:spPr>
            <a:xfrm>
              <a:off x="4537" y="2838"/>
              <a:ext cx="2247" cy="3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价格炸弹</a:t>
              </a:r>
              <a:endPara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4542" y="3283"/>
              <a:ext cx="2247" cy="1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配置</a:t>
              </a:r>
              <a:r>
                <a:rPr lang="zh-CN" altLang="en-US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拉满</a:t>
              </a:r>
              <a:endPara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4542" y="4594"/>
              <a:ext cx="2247" cy="3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金句切片</a:t>
              </a:r>
              <a:endPara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