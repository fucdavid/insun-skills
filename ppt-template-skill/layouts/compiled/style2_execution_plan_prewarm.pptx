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文本框 18"/>
          <p:cNvSpPr txBox="1"/>
          <p:nvPr>
            <p:custDataLst>
              <p:tags r:id="rId1"/>
            </p:custDataLst>
          </p:nvPr>
        </p:nvSpPr>
        <p:spPr>
          <a:xfrm>
            <a:off x="1496292" y="191389"/>
            <a:ext cx="209005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执行规划</a:t>
            </a:r>
            <a:endParaRPr lang="zh-CN" altLang="en-US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箭头: 五边形 1"/>
          <p:cNvSpPr/>
          <p:nvPr/>
        </p:nvSpPr>
        <p:spPr>
          <a:xfrm>
            <a:off x="0" y="631825"/>
            <a:ext cx="7041515" cy="611505"/>
          </a:xfrm>
          <a:prstGeom prst="homePlat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预热期</a:t>
            </a:r>
            <a:r>
              <a:rPr lang="en-US" altLang="zh-CN" sz="1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</a:t>
            </a: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新款诚意</a:t>
            </a:r>
            <a:r>
              <a:rPr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做足铺垫，拉高期待</a:t>
            </a:r>
            <a:endParaRPr lang="zh-CN" altLang="en-US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23520" y="1365250"/>
            <a:ext cx="50990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目标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spPr>
          <a:xfrm>
            <a:off x="223520" y="1802765"/>
            <a:ext cx="2064385" cy="2248535"/>
          </a:xfrm>
        </p:spPr>
        <p:grpSpPr>
          <a:xfrm>
            <a:off x="223520" y="1802765"/>
            <a:ext cx="2064385" cy="2248535"/>
            <a:chOff x="352" y="2839"/>
            <a:chExt cx="3251" cy="1356"/>
          </a:xfrm>
        </p:grpSpPr>
        <p:sp>
          <p:nvSpPr>
            <p:cNvPr id="4" name="矩形 3"/>
            <p:cNvSpPr/>
            <p:nvPr/>
          </p:nvSpPr>
          <p:spPr>
            <a:xfrm>
              <a:off x="352" y="2839"/>
              <a:ext cx="746" cy="134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铺垫</a:t>
              </a:r>
              <a:r>
                <a:rPr lang="zh-CN" altLang="en-US" sz="140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期待</a:t>
              </a:r>
              <a:endParaRPr lang="zh-CN" altLang="en-US" sz="14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315" y="2839"/>
              <a:ext cx="2288" cy="135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曝光新款实力</a:t>
              </a:r>
              <a:br>
                <a:rPr lang="zh-CN" altLang="en-US" sz="16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通过专业解读与可视化演示，将</a:t>
              </a:r>
              <a:r>
                <a:rPr lang="en-US" alt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“</a:t>
              </a: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云辇</a:t>
              </a:r>
              <a:r>
                <a:rPr lang="en-US" alt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-C</a:t>
              </a: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下放</a:t>
              </a:r>
              <a:r>
                <a:rPr lang="en-US" alt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、</a:t>
              </a:r>
              <a:r>
                <a:rPr lang="en-US" alt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“130km</a:t>
              </a: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续航</a:t>
              </a:r>
              <a:r>
                <a:rPr lang="en-US" alt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等技术升级点，转化为用户可感知的</a:t>
              </a:r>
              <a:r>
                <a:rPr lang="en-US" alt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“</a:t>
              </a: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价值跃迁</a:t>
              </a:r>
              <a:r>
                <a:rPr lang="en-US" altLang="zh-CN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”</a:t>
              </a:r>
              <a:endParaRPr lang="en-US" alt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835660" y="1365250"/>
            <a:ext cx="145224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传播策略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spPr>
          <a:xfrm>
            <a:off x="223520" y="4164330"/>
            <a:ext cx="2064385" cy="2306955"/>
          </a:xfrm>
        </p:spPr>
        <p:grpSpPr>
          <a:xfrm>
            <a:off x="223520" y="4164330"/>
            <a:ext cx="2064385" cy="2306955"/>
            <a:chOff x="352" y="4331"/>
            <a:chExt cx="3251" cy="5860"/>
          </a:xfrm>
        </p:grpSpPr>
        <p:sp>
          <p:nvSpPr>
            <p:cNvPr id="18" name="矩形 17"/>
            <p:cNvSpPr/>
            <p:nvPr/>
          </p:nvSpPr>
          <p:spPr>
            <a:xfrm>
              <a:off x="352" y="4331"/>
              <a:ext cx="746" cy="58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400">
                  <a:solidFill>
                    <a:schemeClr val="tx1"/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悬念造势</a:t>
              </a:r>
              <a:endParaRPr lang="zh-CN" altLang="en-US" sz="1400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315" y="4331"/>
              <a:ext cx="2288" cy="5855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zh-CN" altLang="en-US" sz="16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引爆诚意期待</a:t>
              </a:r>
              <a:br>
                <a:rPr lang="zh-CN" altLang="en-US" sz="16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9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通过互动竞猜与话题引导，将用户对“增配”的关注，自然过渡到对“新款”的超高期待上</a:t>
              </a:r>
              <a:endParaRPr lang="zh-CN" alt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2393950" y="1365250"/>
            <a:ext cx="187388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主要方向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spPr>
          <a:xfrm>
            <a:off x="2390140" y="1802765"/>
            <a:ext cx="1872615" cy="2252106"/>
          </a:xfrm>
        </p:spPr>
        <p:grpSpPr>
          <a:xfrm>
            <a:off x="2390140" y="1802765"/>
            <a:ext cx="1872615" cy="2252106"/>
            <a:chOff x="3764" y="2839"/>
            <a:chExt cx="2949" cy="1352"/>
          </a:xfrm>
        </p:grpSpPr>
        <p:sp>
          <p:nvSpPr>
            <p:cNvPr id="9" name="矩形 8"/>
            <p:cNvSpPr/>
            <p:nvPr/>
          </p:nvSpPr>
          <p:spPr>
            <a:xfrm>
              <a:off x="3767" y="2839"/>
              <a:ext cx="2946" cy="8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升级</a:t>
              </a:r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配置解析</a:t>
              </a:r>
              <a:endPara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764" y="3678"/>
              <a:ext cx="2946" cy="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新老</a:t>
              </a:r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配置对比</a:t>
              </a:r>
              <a:endPara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4371023" y="1802130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《新款秦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配置单解析，这次真是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入门即高配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69435" y="1365250"/>
            <a:ext cx="592645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</a:rPr>
              <a:t>标题示例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371023" y="2270760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《猜猜新款秦L多了哪些硬货？盘点三大“王炸”升级！》</a:t>
            </a:r>
            <a:endParaRPr lang="zh-CN" altLang="en-US" sz="1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371023" y="2751455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《</a:t>
            </a:r>
            <a:r>
              <a:rPr lang="en-US" altLang="zh-CN" sz="1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1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增配</a:t>
            </a:r>
            <a:r>
              <a:rPr lang="en-US" altLang="zh-CN" sz="1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1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清单曝光！</a:t>
            </a:r>
            <a:r>
              <a:rPr lang="en-US" altLang="zh-CN" sz="1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2026</a:t>
            </a:r>
            <a:r>
              <a:rPr lang="zh-CN" altLang="en-US" sz="1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款秦</a:t>
            </a:r>
            <a:r>
              <a:rPr lang="en-US" altLang="zh-CN" sz="1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这些升级点太实在了》</a:t>
            </a:r>
            <a:endParaRPr lang="zh-CN" altLang="en-US" sz="1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4371023" y="3200400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《从“够用”到“奢享”，秦L的续航如何重新定义B级车标准？》</a:t>
            </a:r>
            <a:endParaRPr lang="en-US" altLang="zh-CN" sz="1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371023" y="3684080"/>
            <a:ext cx="5913755" cy="387350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《新旧秦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全面对比：续航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智驾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舒适性满血升级，这波换代诚意拉满》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371023" y="4164965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《配置拉满的秦L，你认为什么价格才算工业奇迹》</a:t>
            </a:r>
            <a:endParaRPr lang="zh-CN" altLang="en-US" sz="100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371023" y="4631690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盲猜新款秦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定价！若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万内标配三大升级，能否再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‘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掀桌子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’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？》</a:t>
            </a:r>
            <a:endParaRPr 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371023" y="5111750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《全网价格竞猜开启！秦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算不算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‘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价格屠夫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’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再现》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4371023" y="5591175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《国潮龙颜再进化！实拍新款秦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设计细节，这颜值堪称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移动的艺术品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》</a:t>
            </a:r>
            <a:endParaRPr lang="zh-CN" alt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397490" y="1802765"/>
            <a:ext cx="866775" cy="2277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397490" y="1365250"/>
            <a:ext cx="86677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传播形式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10398125" y="4164965"/>
            <a:ext cx="861695" cy="2300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320780" y="1802765"/>
            <a:ext cx="669925" cy="2277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None/>
            </a:pPr>
            <a:r>
              <a:rPr 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X</a:t>
            </a:r>
            <a:endParaRPr lang="en-US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320780" y="1365250"/>
            <a:ext cx="669925" cy="3600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传播量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</a:rPr>
              <a:t>（参考）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321415" y="4164965"/>
            <a:ext cx="669925" cy="23006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None/>
            </a:pPr>
            <a:r>
              <a:rPr lang="en-US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</a:t>
            </a:r>
            <a:endParaRPr lang="en-US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374198" y="6058535"/>
            <a:ext cx="5913755" cy="393065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《实车比官图更惊艳！新款秦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L"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龙颜</a:t>
            </a:r>
            <a:r>
              <a:rPr lang="en-US" altLang="zh-CN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设计解析》</a:t>
            </a:r>
            <a:endParaRPr lang="en-US" altLang="zh-CN"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6" name="组合 15"/>
          <p:cNvGrpSpPr/>
          <p:nvPr/>
        </p:nvGrpSpPr>
        <p:spPr>
          <a:xfrm>
            <a:off x="2392680" y="4168775"/>
            <a:ext cx="1872615" cy="2301875"/>
          </a:xfrm>
        </p:spPr>
        <p:grpSpPr>
          <a:xfrm>
            <a:off x="2392680" y="4168775"/>
            <a:ext cx="1872615" cy="2301875"/>
            <a:chOff x="3764" y="2839"/>
            <a:chExt cx="2949" cy="1367"/>
          </a:xfrm>
        </p:grpSpPr>
        <p:sp>
          <p:nvSpPr>
            <p:cNvPr id="21" name="矩形 20"/>
            <p:cNvSpPr/>
            <p:nvPr/>
          </p:nvSpPr>
          <p:spPr>
            <a:xfrm>
              <a:off x="3767" y="2839"/>
              <a:ext cx="2946" cy="8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价格竞猜</a:t>
              </a:r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预埋</a:t>
              </a:r>
              <a:endPara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764" y="3678"/>
              <a:ext cx="2946" cy="52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6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视觉美学预热</a:t>
              </a:r>
              <a:endPara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