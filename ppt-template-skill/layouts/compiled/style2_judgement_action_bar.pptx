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1786255" y="2733040"/>
            <a:ext cx="8583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基于目前产品舆论态势及竞品攻击情况进行研判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</a:rPr>
              <a:t>银河</a:t>
            </a:r>
            <a:r>
              <a:rPr lang="en-US" altLang="zh-CN" sz="3600" b="1">
                <a:latin typeface="微软雅黑" panose="020B0503020204020204" charset="-122"/>
                <a:ea typeface="微软雅黑" panose="020B0503020204020204" charset="-122"/>
              </a:rPr>
              <a:t>M9</a:t>
            </a:r>
            <a:r>
              <a:rPr lang="zh-CN" altLang="en-US" sz="3600" b="1">
                <a:latin typeface="微软雅黑" panose="020B0503020204020204" charset="-122"/>
                <a:ea typeface="微软雅黑" panose="020B0503020204020204" charset="-122"/>
              </a:rPr>
              <a:t>上市期间内可能会遭受更多攻击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spPr>
          <a:xfrm>
            <a:off x="1044575" y="2566670"/>
            <a:ext cx="369570" cy="988060"/>
          </a:xfrm>
        </p:spPr>
        <p:grpSpPr>
          <a:xfrm>
            <a:off x="1044575" y="2566670"/>
            <a:ext cx="369570" cy="988060"/>
            <a:chOff x="903" y="4042"/>
            <a:chExt cx="582" cy="1556"/>
          </a:xfrm>
        </p:grpSpPr>
        <p:grpSp>
          <p:nvGrpSpPr>
            <p:cNvPr id="20" name="组合 19" descr="e7d195523061f1c093d753f9ae026c02ea2377d8e563bb0a6AD317B17F88BFF3CFA045DFD56CE85E8FE70343E6872691953A13787B687769404B6FACEB7BEB2E9466EABD072654A937E8A0C33F7F4B894FE479DB1FEE1D24CB64CF824448D61179098A668A63747C09D8A4BB8E12D20E5E0142B5535F4DD61CC9B0D0164028642F23F8C5EF2C22AB"/>
            <p:cNvGrpSpPr/>
            <p:nvPr/>
          </p:nvGrpSpPr>
          <p:grpSpPr>
            <a:xfrm>
              <a:off x="903" y="4042"/>
              <a:ext cx="583" cy="583"/>
              <a:chOff x="843475" y="470778"/>
              <a:chExt cx="370416" cy="370418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843475" y="470778"/>
                <a:ext cx="370416" cy="37041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24" name="图形 3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31423" y="560539"/>
                <a:ext cx="194520" cy="194520"/>
              </a:xfrm>
              <a:prstGeom prst="rect">
                <a:avLst/>
              </a:prstGeom>
            </p:spPr>
          </p:pic>
        </p:grpSp>
        <p:sp>
          <p:nvSpPr>
            <p:cNvPr id="25" name="椭圆 24"/>
            <p:cNvSpPr/>
            <p:nvPr/>
          </p:nvSpPr>
          <p:spPr>
            <a:xfrm>
              <a:off x="1132" y="4835"/>
              <a:ext cx="126" cy="12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132" y="5153"/>
              <a:ext cx="126" cy="12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132" y="5472"/>
              <a:ext cx="126" cy="12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8" name="平行四边形 27"/>
          <p:cNvSpPr/>
          <p:nvPr/>
        </p:nvSpPr>
        <p:spPr>
          <a:xfrm>
            <a:off x="5636260" y="3671570"/>
            <a:ext cx="4733290" cy="36000"/>
          </a:xfrm>
          <a:prstGeom prst="parallelogram">
            <a:avLst/>
          </a:prstGeom>
          <a:solidFill>
            <a:srgbClr val="093B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896745" y="3790315"/>
            <a:ext cx="8522335" cy="51562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需及时</a:t>
            </a:r>
            <a:r>
              <a:rPr lang="zh-CN" altLang="en-US" sz="2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调整口碑维护方向及资源规划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来打好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这场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舆论硬仗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